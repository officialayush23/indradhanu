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60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Indradhanu is a hazard-agnostic agentic AI platform for climate disaster early warning and response. Theme AI for Climate Change. Domain: Disaster Resilience, Public Health and Community Well-being. Topics: Early Warning Systems and Disaster Forecasting and Response. Pilot city Pune, India. Team: Ayush Pathak, Tushar Singh, Shreeviraj Matale, Satyam Srivastava, third year undergraduate, Vishwakarma Institute of Technology, Pune. Technology stack: FastAPI, React with Vite, shadcn/ui, Mapbox GL, LangGraph, LangChain, Supabase Postgres with PostGIS, Google Gemini, AWS Bedrock.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Problem Statement and Idea, Objectives, Proposed Solution and Architecture, Unique Features and Innovation, Expected Outcomes,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India has credible forecasting from IMD, CWC, CPCB and NDMA but lacks the operational decision layer. Four gaps: warnings stop at district granularity, hazard and exposure data are siloed, response coordination is manual and undocumented, and each hazard is rebuilt as a separate system. Real-world relevance: Pune floods of 25 July and 4 August 2024, 45000 cusecs discharged from Khadakwasla dam, Army requisitioned. Idea: a hazard-agnostic agentic AI platform producing ranked, policy-cited, ward-level action plans.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hyperlocal multi-hazard forecasting at ward and 250 metre grid resolution; decisions grounded in retrieved NDMA and municipal standard operating procedures; constrained optimisation for resource allocation and citizen evacuation routing. Impact: lead time, efficiency, accountability, sustainability. Beneficiaries: residents, municipal disaster cells, ward officers, field teams, transport fire and ambulance services, district administration.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five layers. Layer 1 data ingestion: Open-Meteo forecast and GloFAS flood API, IMD warnings, CPCB and CAMS air quality, CWC reservoir levels, NASA FIRMS fire, USGS seismic, GDACS, joined against static exposure geography in Supabase PostGIS. Layer 2 hazard adapters implement one common contract - signal, score, exposure join, impact, action policy - so flood, heatwave, air quality, wildfire and seismic share one codebase. Layer 3 LangGraph multi-agent orchestrator over LangChain tools: Hazard Analyst, Impact and Exposure, Allocation Planner using Google OR-Tools CP-SAT over OSRM travel times, and Guidance Agent. Layer 4 policy-grounded human in the loop gate using retrieval over NDMA standard operating procedures, the municipal disaster management plan and the delegation of authority matrix. Layer 5 three interfaces: Citizen Portal, Administration Command Console, Field and Service Operator Portal. Backend FastAPI, frontend React with Vite, shadcn/ui, Mapbox GL, Framer Motion and GSAP. Database Supabase Postgres with PostGIS. Large language model Google Gemini in development, AWS Bedrock in production. Adapters are stateless and horizontally scalable.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A single hazard-agnostic adapter contract instead of one system per disaster type. Retrieval-grounded decisions that cite the NDMA or municipal standard operating procedure clause authorising each action. Agentic AI paired with constrained optimisation: LangGraph agents propose, Google OR-Tools CP-SAT allocates. Replay Mode backtesting against the July 2024 Pune flood using reanalysis data. A closed loop across citizen, administration and field operator interfaces, with computer-vision classification, duplicate clustering, proof-of-closure and officer override captured as training signal.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outcomes. Deliverables: a deployed platform with three interfaces, a multi-hazard machine learning risk engine, a policy-grounded agentic dispatch planner, and a Pune reference geospatial dataset. Short-term figures are stated as targets to be validated, not measured results. Long-term: additional hazard adapters, multi-city tenancy under a state disaster management authority, and longitudinal risk data for climate-resilient urban planning. Scaling a new city requires only ward geometry, a digital elevation model and an exposure layer.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Indradhanu is the missing operational layer between India's climate data and administrative action. It should be selected because it targets the real gap rather than the headline, it is buildable on open APIs available today, it is provable outside the monsoon through Replay Mode, and one architecture generalises across every climate disaster type.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indradhanu-fr.vercel.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12064"/>
            <a:ext cx="10911535" cy="237744"/>
          </a:xfrm>
          <a:prstGeom prst="rect">
            <a:avLst/>
          </a:prstGeom>
          <a:noFill/>
          <a:ln/>
        </p:spPr>
        <p:txBody>
          <a:bodyPr wrap="square" lIns="0" tIns="0" rIns="0" bIns="0" rtlCol="0" anchor="ctr"/>
          <a:lstStyle/>
          <a:p>
            <a:pPr marL="0" indent="0">
              <a:buNone/>
            </a:pPr>
            <a:r>
              <a:rPr lang="en-US" sz="1100" b="1" kern="0" spc="240" dirty="0">
                <a:solidFill>
                  <a:srgbClr val="6E8194"/>
                </a:solidFill>
                <a:latin typeface="Calibri" pitchFamily="34" charset="0"/>
                <a:ea typeface="Calibri" pitchFamily="34" charset="-122"/>
                <a:cs typeface="Calibri" pitchFamily="34" charset="-120"/>
              </a:rPr>
              <a:t>PCCOE INTERNATIONAL GRAND CHALLENGE  2026   |   PUNE, INDIA</a:t>
            </a:r>
            <a:endParaRPr lang="en-US" sz="1100" dirty="0"/>
          </a:p>
        </p:txBody>
      </p:sp>
      <p:sp>
        <p:nvSpPr>
          <p:cNvPr id="3" name="Text 1"/>
          <p:cNvSpPr txBox="1"/>
          <p:nvPr/>
        </p:nvSpPr>
        <p:spPr>
          <a:xfrm>
            <a:off x="640080" y="822960"/>
            <a:ext cx="10911535" cy="256032"/>
          </a:xfrm>
          <a:prstGeom prst="rect">
            <a:avLst/>
          </a:prstGeom>
          <a:noFill/>
          <a:ln/>
        </p:spPr>
        <p:txBody>
          <a:bodyPr wrap="square" lIns="0" tIns="0" rIns="0" bIns="0" rtlCol="0" anchor="ctr"/>
          <a:lstStyle/>
          <a:p>
            <a:pPr marL="0" indent="0">
              <a:buNone/>
            </a:pPr>
            <a:r>
              <a:rPr lang="en-US" sz="1400" dirty="0">
                <a:solidFill>
                  <a:srgbClr val="3D5468"/>
                </a:solidFill>
                <a:latin typeface="Calibri" pitchFamily="34" charset="0"/>
                <a:ea typeface="Calibri" pitchFamily="34" charset="-122"/>
                <a:cs typeface="Calibri" pitchFamily="34" charset="-120"/>
              </a:rPr>
              <a:t>Theme: AI for Climate Change</a:t>
            </a:r>
            <a:endParaRPr lang="en-US" sz="1400" dirty="0"/>
          </a:p>
        </p:txBody>
      </p:sp>
      <p:sp>
        <p:nvSpPr>
          <p:cNvPr id="4" name="Text 2"/>
          <p:cNvSpPr txBox="1"/>
          <p:nvPr/>
        </p:nvSpPr>
        <p:spPr>
          <a:xfrm>
            <a:off x="640080" y="1280160"/>
            <a:ext cx="10911535" cy="877824"/>
          </a:xfrm>
          <a:prstGeom prst="rect">
            <a:avLst/>
          </a:prstGeom>
          <a:noFill/>
          <a:ln/>
        </p:spPr>
        <p:txBody>
          <a:bodyPr wrap="square" lIns="0" tIns="0" rIns="0" bIns="0" rtlCol="0" anchor="ctr"/>
          <a:lstStyle/>
          <a:p>
            <a:pPr marL="0" indent="0">
              <a:buNone/>
            </a:pPr>
            <a:r>
              <a:rPr lang="en-US" sz="5600" b="1" dirty="0">
                <a:solidFill>
                  <a:srgbClr val="11253C"/>
                </a:solidFill>
                <a:latin typeface="Cambria" pitchFamily="34" charset="0"/>
                <a:ea typeface="Cambria" pitchFamily="34" charset="-122"/>
                <a:cs typeface="Cambria" pitchFamily="34" charset="-120"/>
              </a:rPr>
              <a:t>Indradhanu</a:t>
            </a:r>
            <a:endParaRPr lang="en-US" sz="5600" dirty="0"/>
          </a:p>
        </p:txBody>
      </p:sp>
      <p:sp>
        <p:nvSpPr>
          <p:cNvPr id="5" name="Text 3"/>
          <p:cNvSpPr txBox="1"/>
          <p:nvPr/>
        </p:nvSpPr>
        <p:spPr>
          <a:xfrm>
            <a:off x="640080" y="2139696"/>
            <a:ext cx="8778240" cy="731520"/>
          </a:xfrm>
          <a:prstGeom prst="rect">
            <a:avLst/>
          </a:prstGeom>
          <a:noFill/>
          <a:ln/>
        </p:spPr>
        <p:txBody>
          <a:bodyPr wrap="square" lIns="0" tIns="0" rIns="0" bIns="0" rtlCol="0" anchor="ctr"/>
          <a:lstStyle/>
          <a:p>
            <a:pPr marL="0" indent="0">
              <a:lnSpc>
                <a:spcPts val="2900"/>
              </a:lnSpc>
              <a:buNone/>
            </a:pPr>
            <a:r>
              <a:rPr lang="en-US" sz="2100" b="1" dirty="0">
                <a:solidFill>
                  <a:srgbClr val="11253C"/>
                </a:solidFill>
                <a:latin typeface="Cambria" pitchFamily="34" charset="0"/>
                <a:ea typeface="Cambria" pitchFamily="34" charset="-122"/>
                <a:cs typeface="Cambria" pitchFamily="34" charset="-120"/>
              </a:rPr>
              <a:t>Forecasts tell us what will happen.</a:t>
            </a:r>
            <a:endParaRPr lang="en-US" sz="2100" dirty="0"/>
          </a:p>
          <a:p>
            <a:pPr marL="0" indent="0">
              <a:lnSpc>
                <a:spcPts val="2900"/>
              </a:lnSpc>
              <a:buNone/>
            </a:pPr>
            <a:r>
              <a:rPr lang="en-US" sz="2100" b="1" dirty="0">
                <a:solidFill>
                  <a:srgbClr val="11253C"/>
                </a:solidFill>
                <a:latin typeface="Cambria" pitchFamily="34" charset="0"/>
                <a:ea typeface="Cambria" pitchFamily="34" charset="-122"/>
                <a:cs typeface="Cambria" pitchFamily="34" charset="-120"/>
              </a:rPr>
              <a:t>Indradhanu tells everyone what to do next.</a:t>
            </a:r>
            <a:endParaRPr lang="en-US" sz="2100" dirty="0"/>
          </a:p>
        </p:txBody>
      </p:sp>
      <p:sp>
        <p:nvSpPr>
          <p:cNvPr id="6" name="Text 4"/>
          <p:cNvSpPr txBox="1"/>
          <p:nvPr/>
        </p:nvSpPr>
        <p:spPr>
          <a:xfrm>
            <a:off x="640080" y="2889504"/>
            <a:ext cx="8778240" cy="274320"/>
          </a:xfrm>
          <a:prstGeom prst="rect">
            <a:avLst/>
          </a:prstGeom>
          <a:noFill/>
          <a:ln/>
        </p:spPr>
        <p:txBody>
          <a:bodyPr wrap="square" lIns="0" tIns="0" rIns="0" bIns="0" rtlCol="0" anchor="ctr"/>
          <a:lstStyle/>
          <a:p>
            <a:pPr marL="0" indent="0">
              <a:buNone/>
            </a:pPr>
            <a:r>
              <a:rPr lang="en-US" sz="1350" dirty="0">
                <a:solidFill>
                  <a:srgbClr val="3D5468"/>
                </a:solidFill>
                <a:latin typeface="Calibri" pitchFamily="34" charset="0"/>
                <a:ea typeface="Calibri" pitchFamily="34" charset="-122"/>
                <a:cs typeface="Calibri" pitchFamily="34" charset="-120"/>
              </a:rPr>
              <a:t>A hazard-agnostic agentic AI platform: forecast → ward → household → response team.</a:t>
            </a:r>
            <a:endParaRPr lang="en-US" sz="1350" dirty="0"/>
          </a:p>
        </p:txBody>
      </p:sp>
      <p:sp>
        <p:nvSpPr>
          <p:cNvPr id="7" name="Shape 5"/>
          <p:cNvSpPr/>
          <p:nvPr/>
        </p:nvSpPr>
        <p:spPr>
          <a:xfrm>
            <a:off x="640080" y="3291840"/>
            <a:ext cx="137160" cy="137160"/>
          </a:xfrm>
          <a:prstGeom prst="ellipse">
            <a:avLst/>
          </a:prstGeom>
          <a:solidFill>
            <a:srgbClr val="2E7D8F"/>
          </a:solidFill>
          <a:ln w="12700">
            <a:solidFill>
              <a:srgbClr val="2E7D8F"/>
            </a:solidFill>
            <a:prstDash val="solid"/>
          </a:ln>
        </p:spPr>
      </p:sp>
      <p:sp>
        <p:nvSpPr>
          <p:cNvPr id="8" name="Text 6"/>
          <p:cNvSpPr txBox="1"/>
          <p:nvPr/>
        </p:nvSpPr>
        <p:spPr>
          <a:xfrm>
            <a:off x="859536"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Flood</a:t>
            </a:r>
            <a:endParaRPr lang="en-US" sz="1150" dirty="0"/>
          </a:p>
        </p:txBody>
      </p:sp>
      <p:sp>
        <p:nvSpPr>
          <p:cNvPr id="9" name="Shape 7"/>
          <p:cNvSpPr/>
          <p:nvPr/>
        </p:nvSpPr>
        <p:spPr>
          <a:xfrm>
            <a:off x="1938528" y="3291840"/>
            <a:ext cx="137160" cy="137160"/>
          </a:xfrm>
          <a:prstGeom prst="ellipse">
            <a:avLst/>
          </a:prstGeom>
          <a:solidFill>
            <a:srgbClr val="B23A24"/>
          </a:solidFill>
          <a:ln w="12700">
            <a:solidFill>
              <a:srgbClr val="B23A24"/>
            </a:solidFill>
            <a:prstDash val="solid"/>
          </a:ln>
        </p:spPr>
      </p:sp>
      <p:sp>
        <p:nvSpPr>
          <p:cNvPr id="10" name="Text 8"/>
          <p:cNvSpPr txBox="1"/>
          <p:nvPr/>
        </p:nvSpPr>
        <p:spPr>
          <a:xfrm>
            <a:off x="2157984"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Heatwave</a:t>
            </a:r>
            <a:endParaRPr lang="en-US" sz="1150" dirty="0"/>
          </a:p>
        </p:txBody>
      </p:sp>
      <p:sp>
        <p:nvSpPr>
          <p:cNvPr id="11" name="Shape 9"/>
          <p:cNvSpPr/>
          <p:nvPr/>
        </p:nvSpPr>
        <p:spPr>
          <a:xfrm>
            <a:off x="3511296" y="3291840"/>
            <a:ext cx="137160" cy="137160"/>
          </a:xfrm>
          <a:prstGeom prst="ellipse">
            <a:avLst/>
          </a:prstGeom>
          <a:solidFill>
            <a:srgbClr val="6E5596"/>
          </a:solidFill>
          <a:ln w="12700">
            <a:solidFill>
              <a:srgbClr val="6E5596"/>
            </a:solidFill>
            <a:prstDash val="solid"/>
          </a:ln>
        </p:spPr>
      </p:sp>
      <p:sp>
        <p:nvSpPr>
          <p:cNvPr id="12" name="Text 10"/>
          <p:cNvSpPr txBox="1"/>
          <p:nvPr/>
        </p:nvSpPr>
        <p:spPr>
          <a:xfrm>
            <a:off x="3730752"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Air Quality</a:t>
            </a:r>
            <a:endParaRPr lang="en-US" sz="1150" dirty="0"/>
          </a:p>
        </p:txBody>
      </p:sp>
      <p:sp>
        <p:nvSpPr>
          <p:cNvPr id="13" name="Shape 11"/>
          <p:cNvSpPr/>
          <p:nvPr/>
        </p:nvSpPr>
        <p:spPr>
          <a:xfrm>
            <a:off x="5084064" y="3291840"/>
            <a:ext cx="137160" cy="137160"/>
          </a:xfrm>
          <a:prstGeom prst="ellipse">
            <a:avLst/>
          </a:prstGeom>
          <a:solidFill>
            <a:srgbClr val="C97A20"/>
          </a:solidFill>
          <a:ln w="12700">
            <a:solidFill>
              <a:srgbClr val="C97A20"/>
            </a:solidFill>
            <a:prstDash val="solid"/>
          </a:ln>
        </p:spPr>
      </p:sp>
      <p:sp>
        <p:nvSpPr>
          <p:cNvPr id="14" name="Text 12"/>
          <p:cNvSpPr txBox="1"/>
          <p:nvPr/>
        </p:nvSpPr>
        <p:spPr>
          <a:xfrm>
            <a:off x="5303520"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Wildfire</a:t>
            </a:r>
            <a:endParaRPr lang="en-US" sz="1150" dirty="0"/>
          </a:p>
        </p:txBody>
      </p:sp>
      <p:sp>
        <p:nvSpPr>
          <p:cNvPr id="15" name="Shape 13"/>
          <p:cNvSpPr/>
          <p:nvPr/>
        </p:nvSpPr>
        <p:spPr>
          <a:xfrm>
            <a:off x="6656832" y="3291840"/>
            <a:ext cx="137160" cy="137160"/>
          </a:xfrm>
          <a:prstGeom prst="ellipse">
            <a:avLst/>
          </a:prstGeom>
          <a:solidFill>
            <a:srgbClr val="4E6B41"/>
          </a:solidFill>
          <a:ln w="12700">
            <a:solidFill>
              <a:srgbClr val="4E6B41"/>
            </a:solidFill>
            <a:prstDash val="solid"/>
          </a:ln>
        </p:spPr>
      </p:sp>
      <p:sp>
        <p:nvSpPr>
          <p:cNvPr id="16" name="Text 14"/>
          <p:cNvSpPr txBox="1"/>
          <p:nvPr/>
        </p:nvSpPr>
        <p:spPr>
          <a:xfrm>
            <a:off x="6876288" y="3218688"/>
            <a:ext cx="1463040" cy="274320"/>
          </a:xfrm>
          <a:prstGeom prst="rect">
            <a:avLst/>
          </a:prstGeom>
          <a:noFill/>
          <a:ln/>
        </p:spPr>
        <p:txBody>
          <a:bodyPr wrap="square" lIns="0" tIns="0" rIns="0" bIns="0" rtlCol="0" anchor="ctr"/>
          <a:lstStyle/>
          <a:p>
            <a:pPr marL="0" indent="0">
              <a:buNone/>
            </a:pPr>
            <a:r>
              <a:rPr lang="en-US" sz="1150" dirty="0">
                <a:solidFill>
                  <a:srgbClr val="3D5468"/>
                </a:solidFill>
                <a:latin typeface="Calibri" pitchFamily="34" charset="0"/>
                <a:ea typeface="Calibri" pitchFamily="34" charset="-122"/>
                <a:cs typeface="Calibri" pitchFamily="34" charset="-120"/>
              </a:rPr>
              <a:t>Seismic</a:t>
            </a:r>
            <a:endParaRPr lang="en-US" sz="1150" dirty="0"/>
          </a:p>
        </p:txBody>
      </p:sp>
      <p:sp>
        <p:nvSpPr>
          <p:cNvPr id="17" name="Shape 15"/>
          <p:cNvSpPr/>
          <p:nvPr/>
        </p:nvSpPr>
        <p:spPr>
          <a:xfrm>
            <a:off x="640080" y="3547872"/>
            <a:ext cx="3527450" cy="1024128"/>
          </a:xfrm>
          <a:prstGeom prst="rect">
            <a:avLst/>
          </a:prstGeom>
          <a:solidFill>
            <a:srgbClr val="F3F6F9"/>
          </a:solidFill>
          <a:ln w="9525">
            <a:solidFill>
              <a:srgbClr val="CFD8E1"/>
            </a:solidFill>
            <a:prstDash val="solid"/>
          </a:ln>
        </p:spPr>
      </p:sp>
      <p:sp>
        <p:nvSpPr>
          <p:cNvPr id="18" name="Text 16"/>
          <p:cNvSpPr txBox="1"/>
          <p:nvPr/>
        </p:nvSpPr>
        <p:spPr>
          <a:xfrm>
            <a:off x="859536"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DOMAIN</a:t>
            </a:r>
            <a:endParaRPr lang="en-US" sz="950" dirty="0"/>
          </a:p>
        </p:txBody>
      </p:sp>
      <p:sp>
        <p:nvSpPr>
          <p:cNvPr id="19" name="Text 17"/>
          <p:cNvSpPr txBox="1"/>
          <p:nvPr/>
        </p:nvSpPr>
        <p:spPr>
          <a:xfrm>
            <a:off x="859536"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Disaster Resilience, Public Health</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&amp; Community Well-being</a:t>
            </a:r>
            <a:endParaRPr lang="en-US" sz="1250" dirty="0"/>
          </a:p>
        </p:txBody>
      </p:sp>
      <p:sp>
        <p:nvSpPr>
          <p:cNvPr id="20" name="Shape 18"/>
          <p:cNvSpPr/>
          <p:nvPr/>
        </p:nvSpPr>
        <p:spPr>
          <a:xfrm>
            <a:off x="4332122" y="3547872"/>
            <a:ext cx="3527450" cy="1024128"/>
          </a:xfrm>
          <a:prstGeom prst="rect">
            <a:avLst/>
          </a:prstGeom>
          <a:solidFill>
            <a:srgbClr val="F3F6F9"/>
          </a:solidFill>
          <a:ln w="9525">
            <a:solidFill>
              <a:srgbClr val="CFD8E1"/>
            </a:solidFill>
            <a:prstDash val="solid"/>
          </a:ln>
        </p:spPr>
      </p:sp>
      <p:sp>
        <p:nvSpPr>
          <p:cNvPr id="21" name="Text 19"/>
          <p:cNvSpPr txBox="1"/>
          <p:nvPr/>
        </p:nvSpPr>
        <p:spPr>
          <a:xfrm>
            <a:off x="4551578"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TOPICS ADDRESSED</a:t>
            </a:r>
            <a:endParaRPr lang="en-US" sz="950" dirty="0"/>
          </a:p>
        </p:txBody>
      </p:sp>
      <p:sp>
        <p:nvSpPr>
          <p:cNvPr id="22" name="Text 20"/>
          <p:cNvSpPr txBox="1"/>
          <p:nvPr/>
        </p:nvSpPr>
        <p:spPr>
          <a:xfrm>
            <a:off x="4551578"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Early Warning Systems</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Disaster Forecasting &amp; Response</a:t>
            </a:r>
            <a:endParaRPr lang="en-US" sz="1250" dirty="0"/>
          </a:p>
        </p:txBody>
      </p:sp>
      <p:sp>
        <p:nvSpPr>
          <p:cNvPr id="23" name="Shape 21"/>
          <p:cNvSpPr/>
          <p:nvPr/>
        </p:nvSpPr>
        <p:spPr>
          <a:xfrm>
            <a:off x="8024165" y="3547872"/>
            <a:ext cx="3527450" cy="1024128"/>
          </a:xfrm>
          <a:prstGeom prst="rect">
            <a:avLst/>
          </a:prstGeom>
          <a:solidFill>
            <a:srgbClr val="F3F6F9"/>
          </a:solidFill>
          <a:ln w="9525">
            <a:solidFill>
              <a:srgbClr val="CFD8E1"/>
            </a:solidFill>
            <a:prstDash val="solid"/>
          </a:ln>
        </p:spPr>
      </p:sp>
      <p:sp>
        <p:nvSpPr>
          <p:cNvPr id="24" name="Text 22"/>
          <p:cNvSpPr txBox="1"/>
          <p:nvPr/>
        </p:nvSpPr>
        <p:spPr>
          <a:xfrm>
            <a:off x="8243621" y="3712464"/>
            <a:ext cx="3088538"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PILOT CITY</a:t>
            </a:r>
            <a:endParaRPr lang="en-US" sz="950" dirty="0"/>
          </a:p>
        </p:txBody>
      </p:sp>
      <p:sp>
        <p:nvSpPr>
          <p:cNvPr id="25" name="Text 23"/>
          <p:cNvSpPr txBox="1"/>
          <p:nvPr/>
        </p:nvSpPr>
        <p:spPr>
          <a:xfrm>
            <a:off x="8243621" y="3950208"/>
            <a:ext cx="3088538" cy="530352"/>
          </a:xfrm>
          <a:prstGeom prst="rect">
            <a:avLst/>
          </a:prstGeom>
          <a:noFill/>
          <a:ln/>
        </p:spPr>
        <p:txBody>
          <a:bodyPr wrap="square" lIns="0" tIns="0" rIns="0" bIns="0" rtlCol="0" anchor="ctr"/>
          <a:lstStyle/>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Pune, Maharashtra</a:t>
            </a:r>
            <a:endParaRPr lang="en-US" sz="1250" dirty="0"/>
          </a:p>
          <a:p>
            <a:pPr marL="0" indent="0">
              <a:lnSpc>
                <a:spcPts val="1800"/>
              </a:lnSpc>
              <a:buNone/>
            </a:pPr>
            <a:r>
              <a:rPr lang="en-US" sz="1250" dirty="0">
                <a:solidFill>
                  <a:srgbClr val="11253C"/>
                </a:solidFill>
                <a:latin typeface="Calibri" pitchFamily="34" charset="0"/>
                <a:ea typeface="Calibri" pitchFamily="34" charset="-122"/>
                <a:cs typeface="Calibri" pitchFamily="34" charset="-120"/>
              </a:rPr>
              <a:t>Architecture designed for national scale</a:t>
            </a:r>
            <a:endParaRPr lang="en-US" sz="1250" dirty="0"/>
          </a:p>
        </p:txBody>
      </p:sp>
      <p:sp>
        <p:nvSpPr>
          <p:cNvPr id="26" name="Shape 24"/>
          <p:cNvSpPr/>
          <p:nvPr/>
        </p:nvSpPr>
        <p:spPr>
          <a:xfrm>
            <a:off x="640080" y="4864608"/>
            <a:ext cx="10911535" cy="1389888"/>
          </a:xfrm>
          <a:prstGeom prst="rect">
            <a:avLst/>
          </a:prstGeom>
          <a:solidFill>
            <a:srgbClr val="FFFFFF"/>
          </a:solidFill>
          <a:ln w="9525">
            <a:solidFill>
              <a:srgbClr val="CFD8E1"/>
            </a:solidFill>
            <a:prstDash val="solid"/>
          </a:ln>
        </p:spPr>
      </p:sp>
      <p:sp>
        <p:nvSpPr>
          <p:cNvPr id="27" name="Text 25"/>
          <p:cNvSpPr txBox="1"/>
          <p:nvPr/>
        </p:nvSpPr>
        <p:spPr>
          <a:xfrm>
            <a:off x="896112" y="5047488"/>
            <a:ext cx="3657600" cy="201168"/>
          </a:xfrm>
          <a:prstGeom prst="rect">
            <a:avLst/>
          </a:prstGeom>
          <a:noFill/>
          <a:ln/>
        </p:spPr>
        <p:txBody>
          <a:bodyPr wrap="square" lIns="0" tIns="0" rIns="0" bIns="0" rtlCol="0" anchor="ctr"/>
          <a:lstStyle/>
          <a:p>
            <a:pPr marL="0" indent="0">
              <a:buNone/>
            </a:pPr>
            <a:r>
              <a:rPr lang="en-US" sz="950" b="1" kern="0" spc="160" dirty="0">
                <a:solidFill>
                  <a:srgbClr val="6E8194"/>
                </a:solidFill>
                <a:latin typeface="Calibri" pitchFamily="34" charset="0"/>
                <a:ea typeface="Calibri" pitchFamily="34" charset="-122"/>
                <a:cs typeface="Calibri" pitchFamily="34" charset="-120"/>
              </a:rPr>
              <a:t>TEAM MEMBERS</a:t>
            </a:r>
            <a:endParaRPr lang="en-US" sz="950" dirty="0"/>
          </a:p>
        </p:txBody>
      </p:sp>
      <p:sp>
        <p:nvSpPr>
          <p:cNvPr id="28" name="Text 26"/>
          <p:cNvSpPr txBox="1"/>
          <p:nvPr/>
        </p:nvSpPr>
        <p:spPr>
          <a:xfrm>
            <a:off x="896112" y="5340096"/>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Ayush Pathak</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29" name="Text 27"/>
          <p:cNvSpPr txBox="1"/>
          <p:nvPr/>
        </p:nvSpPr>
        <p:spPr>
          <a:xfrm>
            <a:off x="6095848" y="5340096"/>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Tushar Singh</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30" name="Text 28"/>
          <p:cNvSpPr txBox="1"/>
          <p:nvPr/>
        </p:nvSpPr>
        <p:spPr>
          <a:xfrm>
            <a:off x="896112" y="5760720"/>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Shreeviraj Matale</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
        <p:nvSpPr>
          <p:cNvPr id="31" name="Text 29"/>
          <p:cNvSpPr txBox="1"/>
          <p:nvPr/>
        </p:nvSpPr>
        <p:spPr>
          <a:xfrm>
            <a:off x="6095848" y="5760720"/>
            <a:ext cx="5016856"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Satyam Srivastava</a:t>
            </a:r>
            <a:r>
              <a:rPr lang="en-US" sz="1200" dirty="0">
                <a:solidFill>
                  <a:srgbClr val="3D5468"/>
                </a:solidFill>
                <a:latin typeface="Calibri" pitchFamily="34" charset="0"/>
                <a:ea typeface="Calibri" pitchFamily="34" charset="-122"/>
                <a:cs typeface="Calibri" pitchFamily="34" charset="-120"/>
              </a:rPr>
              <a:t>   TY (UG)  ·  Vishwakarma Institute of Technology, Pune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02</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Outline</a:t>
            </a:r>
            <a:endParaRPr lang="en-US" sz="3300" dirty="0"/>
          </a:p>
        </p:txBody>
      </p:sp>
      <p:sp>
        <p:nvSpPr>
          <p:cNvPr id="4" name="Shape 2"/>
          <p:cNvSpPr/>
          <p:nvPr/>
        </p:nvSpPr>
        <p:spPr>
          <a:xfrm>
            <a:off x="640080" y="1874520"/>
            <a:ext cx="365760" cy="365760"/>
          </a:xfrm>
          <a:prstGeom prst="ellipse">
            <a:avLst/>
          </a:prstGeom>
          <a:solidFill>
            <a:srgbClr val="11253C"/>
          </a:solidFill>
          <a:ln w="12700">
            <a:solidFill>
              <a:srgbClr val="11253C"/>
            </a:solidFill>
            <a:prstDash val="solid"/>
          </a:ln>
        </p:spPr>
      </p:sp>
      <p:sp>
        <p:nvSpPr>
          <p:cNvPr id="5" name="Text 3"/>
          <p:cNvSpPr txBox="1"/>
          <p:nvPr/>
        </p:nvSpPr>
        <p:spPr>
          <a:xfrm>
            <a:off x="640080" y="1874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207008" y="184708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Problem Statement / Idea</a:t>
            </a:r>
            <a:endParaRPr lang="en-US" sz="1600" dirty="0"/>
          </a:p>
        </p:txBody>
      </p:sp>
      <p:sp>
        <p:nvSpPr>
          <p:cNvPr id="7" name="Text 5"/>
          <p:cNvSpPr txBox="1"/>
          <p:nvPr/>
        </p:nvSpPr>
        <p:spPr>
          <a:xfrm>
            <a:off x="1207008" y="216712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Forecasts exist. Ward-level decisions do not.</a:t>
            </a:r>
            <a:endParaRPr lang="en-US" sz="1300" dirty="0"/>
          </a:p>
        </p:txBody>
      </p:sp>
      <p:sp>
        <p:nvSpPr>
          <p:cNvPr id="8" name="Shape 6"/>
          <p:cNvSpPr/>
          <p:nvPr/>
        </p:nvSpPr>
        <p:spPr>
          <a:xfrm>
            <a:off x="640080" y="2770632"/>
            <a:ext cx="4754880" cy="0"/>
          </a:xfrm>
          <a:prstGeom prst="line">
            <a:avLst/>
          </a:prstGeom>
          <a:noFill/>
          <a:ln w="9525">
            <a:solidFill>
              <a:srgbClr val="CFD8E1"/>
            </a:solidFill>
            <a:prstDash val="solid"/>
          </a:ln>
        </p:spPr>
      </p:sp>
      <p:sp>
        <p:nvSpPr>
          <p:cNvPr id="9" name="Shape 7"/>
          <p:cNvSpPr/>
          <p:nvPr/>
        </p:nvSpPr>
        <p:spPr>
          <a:xfrm>
            <a:off x="6476695" y="1874520"/>
            <a:ext cx="365760" cy="365760"/>
          </a:xfrm>
          <a:prstGeom prst="ellipse">
            <a:avLst/>
          </a:prstGeom>
          <a:solidFill>
            <a:srgbClr val="11253C"/>
          </a:solidFill>
          <a:ln w="12700">
            <a:solidFill>
              <a:srgbClr val="11253C"/>
            </a:solidFill>
            <a:prstDash val="solid"/>
          </a:ln>
        </p:spPr>
      </p:sp>
      <p:sp>
        <p:nvSpPr>
          <p:cNvPr id="10" name="Text 8"/>
          <p:cNvSpPr txBox="1"/>
          <p:nvPr/>
        </p:nvSpPr>
        <p:spPr>
          <a:xfrm>
            <a:off x="6476695" y="1874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7043623" y="184708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Objectives</a:t>
            </a:r>
            <a:endParaRPr lang="en-US" sz="1600" dirty="0"/>
          </a:p>
        </p:txBody>
      </p:sp>
      <p:sp>
        <p:nvSpPr>
          <p:cNvPr id="12" name="Text 10"/>
          <p:cNvSpPr txBox="1"/>
          <p:nvPr/>
        </p:nvSpPr>
        <p:spPr>
          <a:xfrm>
            <a:off x="7043623" y="216712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What Indradhanu must achieve, and for whom.</a:t>
            </a:r>
            <a:endParaRPr lang="en-US" sz="1300" dirty="0"/>
          </a:p>
        </p:txBody>
      </p:sp>
      <p:sp>
        <p:nvSpPr>
          <p:cNvPr id="13" name="Shape 11"/>
          <p:cNvSpPr/>
          <p:nvPr/>
        </p:nvSpPr>
        <p:spPr>
          <a:xfrm>
            <a:off x="6476695" y="2770632"/>
            <a:ext cx="4754880" cy="0"/>
          </a:xfrm>
          <a:prstGeom prst="line">
            <a:avLst/>
          </a:prstGeom>
          <a:noFill/>
          <a:ln w="9525">
            <a:solidFill>
              <a:srgbClr val="CFD8E1"/>
            </a:solidFill>
            <a:prstDash val="solid"/>
          </a:ln>
        </p:spPr>
      </p:sp>
      <p:sp>
        <p:nvSpPr>
          <p:cNvPr id="14" name="Shape 12"/>
          <p:cNvSpPr/>
          <p:nvPr/>
        </p:nvSpPr>
        <p:spPr>
          <a:xfrm>
            <a:off x="640080" y="3429000"/>
            <a:ext cx="365760" cy="365760"/>
          </a:xfrm>
          <a:prstGeom prst="ellipse">
            <a:avLst/>
          </a:prstGeom>
          <a:solidFill>
            <a:srgbClr val="11253C"/>
          </a:solidFill>
          <a:ln w="12700">
            <a:solidFill>
              <a:srgbClr val="11253C"/>
            </a:solidFill>
            <a:prstDash val="solid"/>
          </a:ln>
        </p:spPr>
      </p:sp>
      <p:sp>
        <p:nvSpPr>
          <p:cNvPr id="15" name="Text 13"/>
          <p:cNvSpPr txBox="1"/>
          <p:nvPr/>
        </p:nvSpPr>
        <p:spPr>
          <a:xfrm>
            <a:off x="640080" y="3429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207008" y="340156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Proposed Solution / Architecture</a:t>
            </a:r>
            <a:endParaRPr lang="en-US" sz="1600" dirty="0"/>
          </a:p>
        </p:txBody>
      </p:sp>
      <p:sp>
        <p:nvSpPr>
          <p:cNvPr id="17" name="Text 15"/>
          <p:cNvSpPr txBox="1"/>
          <p:nvPr/>
        </p:nvSpPr>
        <p:spPr>
          <a:xfrm>
            <a:off x="1207008" y="372160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One adapter contract, three interfaces.</a:t>
            </a:r>
            <a:endParaRPr lang="en-US" sz="1300" dirty="0"/>
          </a:p>
        </p:txBody>
      </p:sp>
      <p:sp>
        <p:nvSpPr>
          <p:cNvPr id="18" name="Shape 16"/>
          <p:cNvSpPr/>
          <p:nvPr/>
        </p:nvSpPr>
        <p:spPr>
          <a:xfrm>
            <a:off x="640080" y="4325112"/>
            <a:ext cx="4754880" cy="0"/>
          </a:xfrm>
          <a:prstGeom prst="line">
            <a:avLst/>
          </a:prstGeom>
          <a:noFill/>
          <a:ln w="9525">
            <a:solidFill>
              <a:srgbClr val="CFD8E1"/>
            </a:solidFill>
            <a:prstDash val="solid"/>
          </a:ln>
        </p:spPr>
      </p:sp>
      <p:sp>
        <p:nvSpPr>
          <p:cNvPr id="19" name="Shape 17"/>
          <p:cNvSpPr/>
          <p:nvPr/>
        </p:nvSpPr>
        <p:spPr>
          <a:xfrm>
            <a:off x="6476695" y="3429000"/>
            <a:ext cx="365760" cy="365760"/>
          </a:xfrm>
          <a:prstGeom prst="ellipse">
            <a:avLst/>
          </a:prstGeom>
          <a:solidFill>
            <a:srgbClr val="11253C"/>
          </a:solidFill>
          <a:ln w="12700">
            <a:solidFill>
              <a:srgbClr val="11253C"/>
            </a:solidFill>
            <a:prstDash val="solid"/>
          </a:ln>
        </p:spPr>
      </p:sp>
      <p:sp>
        <p:nvSpPr>
          <p:cNvPr id="20" name="Text 18"/>
          <p:cNvSpPr txBox="1"/>
          <p:nvPr/>
        </p:nvSpPr>
        <p:spPr>
          <a:xfrm>
            <a:off x="6476695" y="3429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7043623" y="340156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Unique Features / Innovation</a:t>
            </a:r>
            <a:endParaRPr lang="en-US" sz="1600" dirty="0"/>
          </a:p>
        </p:txBody>
      </p:sp>
      <p:sp>
        <p:nvSpPr>
          <p:cNvPr id="22" name="Text 20"/>
          <p:cNvSpPr txBox="1"/>
          <p:nvPr/>
        </p:nvSpPr>
        <p:spPr>
          <a:xfrm>
            <a:off x="7043623" y="372160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Policy-grounded, solver-backed, replayable.</a:t>
            </a:r>
            <a:endParaRPr lang="en-US" sz="1300" dirty="0"/>
          </a:p>
        </p:txBody>
      </p:sp>
      <p:sp>
        <p:nvSpPr>
          <p:cNvPr id="23" name="Shape 21"/>
          <p:cNvSpPr/>
          <p:nvPr/>
        </p:nvSpPr>
        <p:spPr>
          <a:xfrm>
            <a:off x="6476695" y="4325112"/>
            <a:ext cx="4754880" cy="0"/>
          </a:xfrm>
          <a:prstGeom prst="line">
            <a:avLst/>
          </a:prstGeom>
          <a:noFill/>
          <a:ln w="9525">
            <a:solidFill>
              <a:srgbClr val="CFD8E1"/>
            </a:solidFill>
            <a:prstDash val="solid"/>
          </a:ln>
        </p:spPr>
      </p:sp>
      <p:sp>
        <p:nvSpPr>
          <p:cNvPr id="24" name="Shape 22"/>
          <p:cNvSpPr/>
          <p:nvPr/>
        </p:nvSpPr>
        <p:spPr>
          <a:xfrm>
            <a:off x="640080" y="4983480"/>
            <a:ext cx="365760" cy="365760"/>
          </a:xfrm>
          <a:prstGeom prst="ellipse">
            <a:avLst/>
          </a:prstGeom>
          <a:solidFill>
            <a:srgbClr val="11253C"/>
          </a:solidFill>
          <a:ln w="12700">
            <a:solidFill>
              <a:srgbClr val="11253C"/>
            </a:solidFill>
            <a:prstDash val="solid"/>
          </a:ln>
        </p:spPr>
      </p:sp>
      <p:sp>
        <p:nvSpPr>
          <p:cNvPr id="25" name="Text 23"/>
          <p:cNvSpPr txBox="1"/>
          <p:nvPr/>
        </p:nvSpPr>
        <p:spPr>
          <a:xfrm>
            <a:off x="640080" y="4983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207008" y="495604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Expected Outcomes</a:t>
            </a:r>
            <a:endParaRPr lang="en-US" sz="1600" dirty="0"/>
          </a:p>
        </p:txBody>
      </p:sp>
      <p:sp>
        <p:nvSpPr>
          <p:cNvPr id="27" name="Text 25"/>
          <p:cNvSpPr txBox="1"/>
          <p:nvPr/>
        </p:nvSpPr>
        <p:spPr>
          <a:xfrm>
            <a:off x="1207008" y="527608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Deliverables, measurable targets, scale path.</a:t>
            </a:r>
            <a:endParaRPr lang="en-US" sz="1300" dirty="0"/>
          </a:p>
        </p:txBody>
      </p:sp>
      <p:sp>
        <p:nvSpPr>
          <p:cNvPr id="28" name="Shape 26"/>
          <p:cNvSpPr/>
          <p:nvPr/>
        </p:nvSpPr>
        <p:spPr>
          <a:xfrm>
            <a:off x="640080" y="5879592"/>
            <a:ext cx="4754880" cy="0"/>
          </a:xfrm>
          <a:prstGeom prst="line">
            <a:avLst/>
          </a:prstGeom>
          <a:noFill/>
          <a:ln w="9525">
            <a:solidFill>
              <a:srgbClr val="CFD8E1"/>
            </a:solidFill>
            <a:prstDash val="solid"/>
          </a:ln>
        </p:spPr>
      </p:sp>
      <p:sp>
        <p:nvSpPr>
          <p:cNvPr id="29" name="Shape 27"/>
          <p:cNvSpPr/>
          <p:nvPr/>
        </p:nvSpPr>
        <p:spPr>
          <a:xfrm>
            <a:off x="6476695" y="4983480"/>
            <a:ext cx="365760" cy="365760"/>
          </a:xfrm>
          <a:prstGeom prst="ellipse">
            <a:avLst/>
          </a:prstGeom>
          <a:solidFill>
            <a:srgbClr val="11253C"/>
          </a:solidFill>
          <a:ln w="12700">
            <a:solidFill>
              <a:srgbClr val="11253C"/>
            </a:solidFill>
            <a:prstDash val="solid"/>
          </a:ln>
        </p:spPr>
      </p:sp>
      <p:sp>
        <p:nvSpPr>
          <p:cNvPr id="30" name="Text 28"/>
          <p:cNvSpPr txBox="1"/>
          <p:nvPr/>
        </p:nvSpPr>
        <p:spPr>
          <a:xfrm>
            <a:off x="6476695" y="4983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7043623" y="4956048"/>
            <a:ext cx="4507992" cy="292608"/>
          </a:xfrm>
          <a:prstGeom prst="rect">
            <a:avLst/>
          </a:prstGeom>
          <a:noFill/>
          <a:ln/>
        </p:spPr>
        <p:txBody>
          <a:bodyPr wrap="square" lIns="0" tIns="0" rIns="0" bIns="0" rtlCol="0" anchor="ctr"/>
          <a:lstStyle/>
          <a:p>
            <a:pPr marL="0" indent="0">
              <a:buNone/>
            </a:pPr>
            <a:r>
              <a:rPr lang="en-US" sz="1600" b="1" dirty="0">
                <a:solidFill>
                  <a:srgbClr val="11253C"/>
                </a:solidFill>
                <a:latin typeface="Calibri" pitchFamily="34" charset="0"/>
                <a:ea typeface="Calibri" pitchFamily="34" charset="-122"/>
                <a:cs typeface="Calibri" pitchFamily="34" charset="-120"/>
              </a:rPr>
              <a:t>Conclusion</a:t>
            </a:r>
            <a:endParaRPr lang="en-US" sz="1600" dirty="0"/>
          </a:p>
        </p:txBody>
      </p:sp>
      <p:sp>
        <p:nvSpPr>
          <p:cNvPr id="32" name="Text 30"/>
          <p:cNvSpPr txBox="1"/>
          <p:nvPr/>
        </p:nvSpPr>
        <p:spPr>
          <a:xfrm>
            <a:off x="7043623" y="5276088"/>
            <a:ext cx="4507992" cy="310896"/>
          </a:xfrm>
          <a:prstGeom prst="rect">
            <a:avLst/>
          </a:prstGeom>
          <a:noFill/>
          <a:ln/>
        </p:spPr>
        <p:txBody>
          <a:bodyPr wrap="square" lIns="0" tIns="0" rIns="0" bIns="0" rtlCol="0" anchor="ctr"/>
          <a:lstStyle/>
          <a:p>
            <a:pPr marL="0" indent="0">
              <a:buNone/>
            </a:pPr>
            <a:r>
              <a:rPr lang="en-US" sz="1300" dirty="0">
                <a:solidFill>
                  <a:srgbClr val="6E8194"/>
                </a:solidFill>
                <a:latin typeface="Calibri" pitchFamily="34" charset="0"/>
                <a:ea typeface="Calibri" pitchFamily="34" charset="-122"/>
                <a:cs typeface="Calibri" pitchFamily="34" charset="-120"/>
              </a:rPr>
              <a:t>Why this idea should be selected.</a:t>
            </a:r>
            <a:endParaRPr lang="en-US" sz="1300" dirty="0"/>
          </a:p>
        </p:txBody>
      </p:sp>
      <p:sp>
        <p:nvSpPr>
          <p:cNvPr id="33" name="Shape 31"/>
          <p:cNvSpPr/>
          <p:nvPr/>
        </p:nvSpPr>
        <p:spPr>
          <a:xfrm>
            <a:off x="6476695" y="5879592"/>
            <a:ext cx="4754880" cy="0"/>
          </a:xfrm>
          <a:prstGeom prst="line">
            <a:avLst/>
          </a:prstGeom>
          <a:noFill/>
          <a:ln w="9525">
            <a:solidFill>
              <a:srgbClr val="CFD8E1"/>
            </a:solidFill>
            <a:prstDash val="solid"/>
          </a:ln>
        </p:spPr>
      </p:sp>
      <p:sp>
        <p:nvSpPr>
          <p:cNvPr id="34" name="Text 3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200" b="1" dirty="0">
                <a:solidFill>
                  <a:srgbClr val="11253C"/>
                </a:solidFill>
                <a:latin typeface="Calibri" pitchFamily="34" charset="0"/>
                <a:ea typeface="Calibri" pitchFamily="34" charset="-122"/>
                <a:cs typeface="Calibri" pitchFamily="34" charset="-120"/>
              </a:rPr>
              <a:t>Pilot deployment:  </a:t>
            </a:r>
            <a:r>
              <a:rPr lang="en-US" sz="1200" dirty="0">
                <a:solidFill>
                  <a:srgbClr val="6E8194"/>
                </a:solidFill>
                <a:latin typeface="Calibri" pitchFamily="34" charset="0"/>
                <a:ea typeface="Calibri" pitchFamily="34" charset="-122"/>
                <a:cs typeface="Calibri" pitchFamily="34" charset="-120"/>
              </a:rPr>
              <a:t>Pune Municipal Corporation   ·   </a:t>
            </a:r>
            <a:r>
              <a:rPr lang="en-US" sz="1200" b="1" dirty="0">
                <a:solidFill>
                  <a:srgbClr val="11253C"/>
                </a:solidFill>
                <a:latin typeface="Calibri" pitchFamily="34" charset="0"/>
                <a:ea typeface="Calibri" pitchFamily="34" charset="-122"/>
                <a:cs typeface="Calibri" pitchFamily="34" charset="-120"/>
              </a:rPr>
              <a:t>Hazards live at launch:  </a:t>
            </a:r>
            <a:r>
              <a:rPr lang="en-US" sz="1200" dirty="0">
                <a:solidFill>
                  <a:srgbClr val="6E8194"/>
                </a:solidFill>
                <a:latin typeface="Calibri" pitchFamily="34" charset="0"/>
                <a:ea typeface="Calibri" pitchFamily="34" charset="-122"/>
                <a:cs typeface="Calibri" pitchFamily="34" charset="-120"/>
              </a:rPr>
              <a:t>urban flood and heatwave, with air quality, wildfire and seismic registered as adapters.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03  ·  PROBLEM</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Problem Statement / Idea</a:t>
            </a:r>
            <a:endParaRPr lang="en-US" sz="3300" dirty="0"/>
          </a:p>
        </p:txBody>
      </p:sp>
      <p:sp>
        <p:nvSpPr>
          <p:cNvPr id="4" name="Text 2"/>
          <p:cNvSpPr txBox="1"/>
          <p:nvPr/>
        </p:nvSpPr>
        <p:spPr>
          <a:xfrm>
            <a:off x="640080" y="1572768"/>
            <a:ext cx="5029200" cy="1005840"/>
          </a:xfrm>
          <a:prstGeom prst="rect">
            <a:avLst/>
          </a:prstGeom>
          <a:noFill/>
          <a:ln/>
        </p:spPr>
        <p:txBody>
          <a:bodyPr wrap="square" lIns="0" tIns="0" rIns="0" bIns="0" rtlCol="0" anchor="ctr"/>
          <a:lstStyle/>
          <a:p>
            <a:pPr marL="0" indent="0">
              <a:lnSpc>
                <a:spcPts val="3000"/>
              </a:lnSpc>
              <a:buNone/>
            </a:pPr>
            <a:r>
              <a:rPr lang="en-US" sz="2100" b="1" dirty="0">
                <a:solidFill>
                  <a:srgbClr val="11253C"/>
                </a:solidFill>
                <a:latin typeface="Cambria" pitchFamily="34" charset="0"/>
                <a:ea typeface="Cambria" pitchFamily="34" charset="-122"/>
                <a:cs typeface="Cambria" pitchFamily="34" charset="-120"/>
              </a:rPr>
              <a:t>India does not have a forecasting problem.</a:t>
            </a:r>
            <a:endParaRPr lang="en-US" sz="2100" dirty="0"/>
          </a:p>
          <a:p>
            <a:pPr marL="0" indent="0">
              <a:lnSpc>
                <a:spcPts val="3000"/>
              </a:lnSpc>
              <a:buNone/>
            </a:pPr>
            <a:r>
              <a:rPr lang="en-US" sz="2100" b="1" dirty="0">
                <a:solidFill>
                  <a:srgbClr val="11253C"/>
                </a:solidFill>
                <a:latin typeface="Cambria" pitchFamily="34" charset="0"/>
                <a:ea typeface="Cambria" pitchFamily="34" charset="-122"/>
                <a:cs typeface="Cambria" pitchFamily="34" charset="-120"/>
              </a:rPr>
              <a:t>It has a translation problem.</a:t>
            </a:r>
            <a:endParaRPr lang="en-US" sz="2100" dirty="0"/>
          </a:p>
        </p:txBody>
      </p:sp>
      <p:sp>
        <p:nvSpPr>
          <p:cNvPr id="5" name="Text 3"/>
          <p:cNvSpPr txBox="1"/>
          <p:nvPr/>
        </p:nvSpPr>
        <p:spPr>
          <a:xfrm>
            <a:off x="640080" y="2670048"/>
            <a:ext cx="5029200" cy="896112"/>
          </a:xfrm>
          <a:prstGeom prst="rect">
            <a:avLst/>
          </a:prstGeom>
          <a:noFill/>
          <a:ln/>
        </p:spPr>
        <p:txBody>
          <a:bodyPr wrap="square" lIns="0" tIns="0" rIns="0" bIns="0" rtlCol="0" anchor="ctr"/>
          <a:lstStyle/>
          <a:p>
            <a:pPr marL="0" indent="0">
              <a:lnSpc>
                <a:spcPts val="2100"/>
              </a:lnSpc>
              <a:buNone/>
            </a:pPr>
            <a:r>
              <a:rPr lang="en-US" sz="1350" dirty="0">
                <a:solidFill>
                  <a:srgbClr val="3D5468"/>
                </a:solidFill>
                <a:latin typeface="Calibri" pitchFamily="34" charset="0"/>
                <a:ea typeface="Calibri" pitchFamily="34" charset="-122"/>
                <a:cs typeface="Calibri" pitchFamily="34" charset="-120"/>
              </a:rPr>
              <a:t>At 18:00 on 25 July 2024, Khadakwasla released </a:t>
            </a:r>
            <a:r>
              <a:rPr lang="en-US" sz="1350" b="1" dirty="0">
                <a:solidFill>
                  <a:srgbClr val="B23A24"/>
                </a:solidFill>
                <a:latin typeface="Calibri" pitchFamily="34" charset="0"/>
                <a:ea typeface="Calibri" pitchFamily="34" charset="-122"/>
                <a:cs typeface="Calibri" pitchFamily="34" charset="-120"/>
              </a:rPr>
              <a:t>45,000 cusecs</a:t>
            </a:r>
            <a:r>
              <a:rPr lang="en-US" sz="1350" dirty="0">
                <a:solidFill>
                  <a:srgbClr val="3D5468"/>
                </a:solidFill>
                <a:latin typeface="Calibri" pitchFamily="34" charset="0"/>
                <a:ea typeface="Calibri" pitchFamily="34" charset="-122"/>
                <a:cs typeface="Calibri" pitchFamily="34" charset="-120"/>
              </a:rPr>
              <a:t> into a city that had already taken 118 mm of rain. The rainfall was forecast. The discharge was planned. Neither of them told a family on Sinhagad Road whether to leave.</a:t>
            </a:r>
            <a:endParaRPr lang="en-US" sz="1350" dirty="0"/>
          </a:p>
        </p:txBody>
      </p:sp>
      <p:sp>
        <p:nvSpPr>
          <p:cNvPr id="6" name="Shape 4"/>
          <p:cNvSpPr/>
          <p:nvPr/>
        </p:nvSpPr>
        <p:spPr>
          <a:xfrm>
            <a:off x="640080" y="3675888"/>
            <a:ext cx="5029200" cy="896112"/>
          </a:xfrm>
          <a:prstGeom prst="rect">
            <a:avLst/>
          </a:prstGeom>
          <a:solidFill>
            <a:srgbClr val="F3F6F9"/>
          </a:solidFill>
          <a:ln w="9525">
            <a:solidFill>
              <a:srgbClr val="CFD8E1"/>
            </a:solidFill>
            <a:prstDash val="solid"/>
          </a:ln>
        </p:spPr>
      </p:sp>
      <p:sp>
        <p:nvSpPr>
          <p:cNvPr id="7" name="Text 5"/>
          <p:cNvSpPr txBox="1"/>
          <p:nvPr/>
        </p:nvSpPr>
        <p:spPr>
          <a:xfrm>
            <a:off x="877824" y="3822192"/>
            <a:ext cx="4572000" cy="201168"/>
          </a:xfrm>
          <a:prstGeom prst="rect">
            <a:avLst/>
          </a:prstGeom>
          <a:noFill/>
          <a:ln/>
        </p:spPr>
        <p:txBody>
          <a:bodyPr wrap="square" lIns="0" tIns="0" rIns="0" bIns="0" rtlCol="0" anchor="ctr"/>
          <a:lstStyle/>
          <a:p>
            <a:pPr marL="0" indent="0">
              <a:buNone/>
            </a:pPr>
            <a:r>
              <a:rPr lang="en-US" sz="900" b="1" kern="0" spc="140" dirty="0">
                <a:solidFill>
                  <a:srgbClr val="6E8194"/>
                </a:solidFill>
                <a:latin typeface="Calibri" pitchFamily="34" charset="0"/>
                <a:ea typeface="Calibri" pitchFamily="34" charset="-122"/>
                <a:cs typeface="Calibri" pitchFamily="34" charset="-120"/>
              </a:rPr>
              <a:t>WHAT A RESIDENT GETS TODAY</a:t>
            </a:r>
            <a:endParaRPr lang="en-US" sz="900" dirty="0"/>
          </a:p>
        </p:txBody>
      </p:sp>
      <p:sp>
        <p:nvSpPr>
          <p:cNvPr id="8" name="Text 6"/>
          <p:cNvSpPr txBox="1"/>
          <p:nvPr/>
        </p:nvSpPr>
        <p:spPr>
          <a:xfrm>
            <a:off x="877824" y="4041648"/>
            <a:ext cx="4572000" cy="438912"/>
          </a:xfrm>
          <a:prstGeom prst="rect">
            <a:avLst/>
          </a:prstGeom>
          <a:noFill/>
          <a:ln/>
        </p:spPr>
        <p:txBody>
          <a:bodyPr wrap="square" lIns="0" tIns="0" rIns="0" bIns="0" rtlCol="0" anchor="ctr"/>
          <a:lstStyle/>
          <a:p>
            <a:pPr marL="0" indent="0">
              <a:lnSpc>
                <a:spcPts val="1700"/>
              </a:lnSpc>
              <a:buNone/>
            </a:pPr>
            <a:r>
              <a:rPr lang="en-US" sz="1250" dirty="0">
                <a:solidFill>
                  <a:srgbClr val="11253C"/>
                </a:solidFill>
                <a:latin typeface="Calibri" pitchFamily="34" charset="0"/>
                <a:ea typeface="Calibri" pitchFamily="34" charset="-122"/>
                <a:cs typeface="Calibri" pitchFamily="34" charset="-120"/>
              </a:rPr>
              <a:t>“Heavy rainfall warning for Pune district. Citizens are advised to take precautions.”</a:t>
            </a:r>
            <a:endParaRPr lang="en-US" sz="1250" dirty="0"/>
          </a:p>
        </p:txBody>
      </p:sp>
      <p:sp>
        <p:nvSpPr>
          <p:cNvPr id="9" name="Shape 7"/>
          <p:cNvSpPr/>
          <p:nvPr/>
        </p:nvSpPr>
        <p:spPr>
          <a:xfrm>
            <a:off x="640080" y="4718304"/>
            <a:ext cx="5029200" cy="1682496"/>
          </a:xfrm>
          <a:prstGeom prst="rect">
            <a:avLst/>
          </a:prstGeom>
          <a:solidFill>
            <a:srgbClr val="FFFFFF"/>
          </a:solidFill>
          <a:ln w="19050">
            <a:solidFill>
              <a:srgbClr val="B23A24"/>
            </a:solidFill>
            <a:prstDash val="solid"/>
          </a:ln>
        </p:spPr>
      </p:sp>
      <p:sp>
        <p:nvSpPr>
          <p:cNvPr id="10" name="Text 8"/>
          <p:cNvSpPr txBox="1"/>
          <p:nvPr/>
        </p:nvSpPr>
        <p:spPr>
          <a:xfrm>
            <a:off x="877824" y="4864608"/>
            <a:ext cx="4572000" cy="201168"/>
          </a:xfrm>
          <a:prstGeom prst="rect">
            <a:avLst/>
          </a:prstGeom>
          <a:noFill/>
          <a:ln/>
        </p:spPr>
        <p:txBody>
          <a:bodyPr wrap="square" lIns="0" tIns="0" rIns="0" bIns="0" rtlCol="0" anchor="ctr"/>
          <a:lstStyle/>
          <a:p>
            <a:pPr marL="0" indent="0">
              <a:buNone/>
            </a:pPr>
            <a:r>
              <a:rPr lang="en-US" sz="900" b="1" kern="0" spc="140" dirty="0">
                <a:solidFill>
                  <a:srgbClr val="B23A24"/>
                </a:solidFill>
                <a:latin typeface="Calibri" pitchFamily="34" charset="0"/>
                <a:ea typeface="Calibri" pitchFamily="34" charset="-122"/>
                <a:cs typeface="Calibri" pitchFamily="34" charset="-120"/>
              </a:rPr>
              <a:t>WHAT INDRADHANU SENDS</a:t>
            </a:r>
            <a:endParaRPr lang="en-US" sz="900" dirty="0"/>
          </a:p>
        </p:txBody>
      </p:sp>
      <p:sp>
        <p:nvSpPr>
          <p:cNvPr id="11" name="Text 9"/>
          <p:cNvSpPr txBox="1"/>
          <p:nvPr/>
        </p:nvSpPr>
        <p:spPr>
          <a:xfrm>
            <a:off x="877824" y="5084064"/>
            <a:ext cx="4572000" cy="237744"/>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Ward 15, Vitthalwadi — HIGH RISK</a:t>
            </a:r>
            <a:endParaRPr lang="en-US" sz="1400" dirty="0"/>
          </a:p>
        </p:txBody>
      </p:sp>
      <p:sp>
        <p:nvSpPr>
          <p:cNvPr id="12" name="Text 10"/>
          <p:cNvSpPr txBox="1"/>
          <p:nvPr/>
        </p:nvSpPr>
        <p:spPr>
          <a:xfrm>
            <a:off x="877824" y="5321808"/>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Flood probability   </a:t>
            </a:r>
            <a:r>
              <a:rPr lang="en-US" sz="1150" b="1" dirty="0">
                <a:solidFill>
                  <a:srgbClr val="11253C"/>
                </a:solidFill>
                <a:latin typeface="Calibri" pitchFamily="34" charset="0"/>
                <a:ea typeface="Calibri" pitchFamily="34" charset="-122"/>
                <a:cs typeface="Calibri" pitchFamily="34" charset="-120"/>
              </a:rPr>
              <a:t>86% within 1 h 12 min</a:t>
            </a:r>
            <a:endParaRPr lang="en-US" sz="1150" dirty="0"/>
          </a:p>
        </p:txBody>
      </p:sp>
      <p:sp>
        <p:nvSpPr>
          <p:cNvPr id="13" name="Text 11"/>
          <p:cNvSpPr txBox="1"/>
          <p:nvPr/>
        </p:nvSpPr>
        <p:spPr>
          <a:xfrm>
            <a:off x="877824" y="5532120"/>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Avoid   </a:t>
            </a:r>
            <a:r>
              <a:rPr lang="en-US" sz="1150" b="1" dirty="0">
                <a:solidFill>
                  <a:srgbClr val="11253C"/>
                </a:solidFill>
                <a:latin typeface="Calibri" pitchFamily="34" charset="0"/>
                <a:ea typeface="Calibri" pitchFamily="34" charset="-122"/>
                <a:cs typeface="Calibri" pitchFamily="34" charset="-120"/>
              </a:rPr>
              <a:t>Vitthalwadi underpass — impassable</a:t>
            </a:r>
            <a:endParaRPr lang="en-US" sz="1150" dirty="0"/>
          </a:p>
        </p:txBody>
      </p:sp>
      <p:sp>
        <p:nvSpPr>
          <p:cNvPr id="14" name="Text 12"/>
          <p:cNvSpPr txBox="1"/>
          <p:nvPr/>
        </p:nvSpPr>
        <p:spPr>
          <a:xfrm>
            <a:off x="877824" y="5742432"/>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Go to   </a:t>
            </a:r>
            <a:r>
              <a:rPr lang="en-US" sz="1150" b="1" dirty="0">
                <a:solidFill>
                  <a:srgbClr val="11253C"/>
                </a:solidFill>
                <a:latin typeface="Calibri" pitchFamily="34" charset="0"/>
                <a:ea typeface="Calibri" pitchFamily="34" charset="-122"/>
                <a:cs typeface="Calibri" pitchFamily="34" charset="-120"/>
              </a:rPr>
              <a:t>Sinhagad Road Municipal Hall, 1.4 km</a:t>
            </a:r>
            <a:endParaRPr lang="en-US" sz="1150" dirty="0"/>
          </a:p>
        </p:txBody>
      </p:sp>
      <p:sp>
        <p:nvSpPr>
          <p:cNvPr id="15" name="Text 13"/>
          <p:cNvSpPr txBox="1"/>
          <p:nvPr/>
        </p:nvSpPr>
        <p:spPr>
          <a:xfrm>
            <a:off x="877824" y="5952744"/>
            <a:ext cx="4572000" cy="201168"/>
          </a:xfrm>
          <a:prstGeom prst="rect">
            <a:avLst/>
          </a:prstGeom>
          <a:noFill/>
          <a:ln/>
        </p:spPr>
        <p:txBody>
          <a:bodyPr wrap="square" lIns="0" tIns="0" rIns="0" bIns="0" rtlCol="0" anchor="ctr"/>
          <a:lstStyle/>
          <a:p>
            <a:pPr marL="0" indent="0">
              <a:buNone/>
            </a:pPr>
            <a:r>
              <a:rPr lang="en-US" sz="1150" dirty="0">
                <a:solidFill>
                  <a:srgbClr val="6E8194"/>
                </a:solidFill>
                <a:latin typeface="Calibri" pitchFamily="34" charset="0"/>
                <a:ea typeface="Calibri" pitchFamily="34" charset="-122"/>
                <a:cs typeface="Calibri" pitchFamily="34" charset="-120"/>
              </a:rPr>
              <a:t>Leave before   </a:t>
            </a:r>
            <a:r>
              <a:rPr lang="en-US" sz="1150" b="1" dirty="0">
                <a:solidFill>
                  <a:srgbClr val="11253C"/>
                </a:solidFill>
                <a:latin typeface="Calibri" pitchFamily="34" charset="0"/>
                <a:ea typeface="Calibri" pitchFamily="34" charset="-122"/>
                <a:cs typeface="Calibri" pitchFamily="34" charset="-120"/>
              </a:rPr>
              <a:t>19:20</a:t>
            </a:r>
            <a:endParaRPr lang="en-US" sz="1150" dirty="0"/>
          </a:p>
        </p:txBody>
      </p:sp>
      <p:sp>
        <p:nvSpPr>
          <p:cNvPr id="16" name="Text 14"/>
          <p:cNvSpPr txBox="1"/>
          <p:nvPr/>
        </p:nvSpPr>
        <p:spPr>
          <a:xfrm>
            <a:off x="877824" y="6163056"/>
            <a:ext cx="4572000" cy="201168"/>
          </a:xfrm>
          <a:prstGeom prst="rect">
            <a:avLst/>
          </a:prstGeom>
          <a:noFill/>
          <a:ln/>
        </p:spPr>
        <p:txBody>
          <a:bodyPr wrap="square" lIns="0" tIns="0" rIns="0" bIns="0" rtlCol="0" anchor="ctr"/>
          <a:lstStyle/>
          <a:p>
            <a:pPr marL="0" indent="0">
              <a:buNone/>
            </a:pPr>
            <a:r>
              <a:rPr lang="en-US" sz="1000" dirty="0">
                <a:solidFill>
                  <a:srgbClr val="6E8194"/>
                </a:solidFill>
                <a:latin typeface="Calibri" pitchFamily="34" charset="0"/>
                <a:ea typeface="Calibri" pitchFamily="34" charset="-122"/>
                <a:cs typeface="Calibri" pitchFamily="34" charset="-120"/>
              </a:rPr>
              <a:t>Marathi · Hindi · English, with voice</a:t>
            </a:r>
            <a:endParaRPr lang="en-US" sz="1000" dirty="0"/>
          </a:p>
        </p:txBody>
      </p:sp>
      <p:sp>
        <p:nvSpPr>
          <p:cNvPr id="17" name="Text 15"/>
          <p:cNvSpPr txBox="1"/>
          <p:nvPr/>
        </p:nvSpPr>
        <p:spPr>
          <a:xfrm>
            <a:off x="6309360" y="1591056"/>
            <a:ext cx="5242255"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CURRENT GAPS IN EXISTING SOLUTIONS</a:t>
            </a:r>
            <a:endParaRPr lang="en-US" sz="1000" dirty="0"/>
          </a:p>
        </p:txBody>
      </p:sp>
      <p:sp>
        <p:nvSpPr>
          <p:cNvPr id="18" name="Shape 16"/>
          <p:cNvSpPr/>
          <p:nvPr/>
        </p:nvSpPr>
        <p:spPr>
          <a:xfrm>
            <a:off x="6309360" y="1993392"/>
            <a:ext cx="118872" cy="118872"/>
          </a:xfrm>
          <a:prstGeom prst="ellipse">
            <a:avLst/>
          </a:prstGeom>
          <a:solidFill>
            <a:srgbClr val="B23A24"/>
          </a:solidFill>
          <a:ln w="12700">
            <a:solidFill>
              <a:srgbClr val="B23A24"/>
            </a:solidFill>
            <a:prstDash val="solid"/>
          </a:ln>
        </p:spPr>
      </p:sp>
      <p:sp>
        <p:nvSpPr>
          <p:cNvPr id="19" name="Text 17"/>
          <p:cNvSpPr txBox="1"/>
          <p:nvPr/>
        </p:nvSpPr>
        <p:spPr>
          <a:xfrm>
            <a:off x="6583680" y="190195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Warnings stop at the district</a:t>
            </a:r>
            <a:endParaRPr lang="en-US" sz="1400" dirty="0"/>
          </a:p>
        </p:txBody>
      </p:sp>
      <p:sp>
        <p:nvSpPr>
          <p:cNvPr id="20" name="Text 18"/>
          <p:cNvSpPr txBox="1"/>
          <p:nvPr/>
        </p:nvSpPr>
        <p:spPr>
          <a:xfrm>
            <a:off x="6583680" y="216712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Alerts say “heavy rain in Pune.” They do not say which ward, which road, which school, or by when to move.</a:t>
            </a:r>
            <a:endParaRPr lang="en-US" sz="1200" dirty="0"/>
          </a:p>
        </p:txBody>
      </p:sp>
      <p:sp>
        <p:nvSpPr>
          <p:cNvPr id="21" name="Shape 19"/>
          <p:cNvSpPr/>
          <p:nvPr/>
        </p:nvSpPr>
        <p:spPr>
          <a:xfrm>
            <a:off x="6309360" y="2953512"/>
            <a:ext cx="118872" cy="118872"/>
          </a:xfrm>
          <a:prstGeom prst="ellipse">
            <a:avLst/>
          </a:prstGeom>
          <a:solidFill>
            <a:srgbClr val="B23A24"/>
          </a:solidFill>
          <a:ln w="12700">
            <a:solidFill>
              <a:srgbClr val="B23A24"/>
            </a:solidFill>
            <a:prstDash val="solid"/>
          </a:ln>
        </p:spPr>
      </p:sp>
      <p:sp>
        <p:nvSpPr>
          <p:cNvPr id="22" name="Text 20"/>
          <p:cNvSpPr txBox="1"/>
          <p:nvPr/>
        </p:nvSpPr>
        <p:spPr>
          <a:xfrm>
            <a:off x="6583680" y="286207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Hazard data and exposure data are separate</a:t>
            </a:r>
            <a:endParaRPr lang="en-US" sz="1400" dirty="0"/>
          </a:p>
        </p:txBody>
      </p:sp>
      <p:sp>
        <p:nvSpPr>
          <p:cNvPr id="23" name="Text 21"/>
          <p:cNvSpPr txBox="1"/>
          <p:nvPr/>
        </p:nvSpPr>
        <p:spPr>
          <a:xfrm>
            <a:off x="6583680" y="312724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Rainfall lives in one system; ward boundaries, elevation, hospitals and population live in another. Nobody joins them under time pressure.</a:t>
            </a:r>
            <a:endParaRPr lang="en-US" sz="1200" dirty="0"/>
          </a:p>
        </p:txBody>
      </p:sp>
      <p:sp>
        <p:nvSpPr>
          <p:cNvPr id="24" name="Shape 22"/>
          <p:cNvSpPr/>
          <p:nvPr/>
        </p:nvSpPr>
        <p:spPr>
          <a:xfrm>
            <a:off x="6309360" y="3913632"/>
            <a:ext cx="118872" cy="118872"/>
          </a:xfrm>
          <a:prstGeom prst="ellipse">
            <a:avLst/>
          </a:prstGeom>
          <a:solidFill>
            <a:srgbClr val="B23A24"/>
          </a:solidFill>
          <a:ln w="12700">
            <a:solidFill>
              <a:srgbClr val="B23A24"/>
            </a:solidFill>
            <a:prstDash val="solid"/>
          </a:ln>
        </p:spPr>
      </p:sp>
      <p:sp>
        <p:nvSpPr>
          <p:cNvPr id="25" name="Text 23"/>
          <p:cNvSpPr txBox="1"/>
          <p:nvPr/>
        </p:nvSpPr>
        <p:spPr>
          <a:xfrm>
            <a:off x="6583680" y="382219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Response is coordinated by phone call</a:t>
            </a:r>
            <a:endParaRPr lang="en-US" sz="1400" dirty="0"/>
          </a:p>
        </p:txBody>
      </p:sp>
      <p:sp>
        <p:nvSpPr>
          <p:cNvPr id="26" name="Text 24"/>
          <p:cNvSpPr txBox="1"/>
          <p:nvPr/>
        </p:nvSpPr>
        <p:spPr>
          <a:xfrm>
            <a:off x="6583680" y="408736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Boats, pumps, ambulances and teams are assigned informally. There is no optimisation, no cited authority, and no audit trail to learn from.</a:t>
            </a:r>
            <a:endParaRPr lang="en-US" sz="1200" dirty="0"/>
          </a:p>
        </p:txBody>
      </p:sp>
      <p:sp>
        <p:nvSpPr>
          <p:cNvPr id="27" name="Shape 25"/>
          <p:cNvSpPr/>
          <p:nvPr/>
        </p:nvSpPr>
        <p:spPr>
          <a:xfrm>
            <a:off x="6309360" y="4873752"/>
            <a:ext cx="118872" cy="118872"/>
          </a:xfrm>
          <a:prstGeom prst="ellipse">
            <a:avLst/>
          </a:prstGeom>
          <a:solidFill>
            <a:srgbClr val="B23A24"/>
          </a:solidFill>
          <a:ln w="12700">
            <a:solidFill>
              <a:srgbClr val="B23A24"/>
            </a:solidFill>
            <a:prstDash val="solid"/>
          </a:ln>
        </p:spPr>
      </p:sp>
      <p:sp>
        <p:nvSpPr>
          <p:cNvPr id="28" name="Text 26"/>
          <p:cNvSpPr txBox="1"/>
          <p:nvPr/>
        </p:nvSpPr>
        <p:spPr>
          <a:xfrm>
            <a:off x="6583680" y="4782312"/>
            <a:ext cx="4967935"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Every hazard is rebuilt from scratch</a:t>
            </a:r>
            <a:endParaRPr lang="en-US" sz="1400" dirty="0"/>
          </a:p>
        </p:txBody>
      </p:sp>
      <p:sp>
        <p:nvSpPr>
          <p:cNvPr id="29" name="Text 27"/>
          <p:cNvSpPr txBox="1"/>
          <p:nvPr/>
        </p:nvSpPr>
        <p:spPr>
          <a:xfrm>
            <a:off x="6583680" y="5047488"/>
            <a:ext cx="4967935" cy="566928"/>
          </a:xfrm>
          <a:prstGeom prst="rect">
            <a:avLst/>
          </a:prstGeom>
          <a:noFill/>
          <a:ln/>
        </p:spPr>
        <p:txBody>
          <a:bodyPr wrap="square" lIns="0" tIns="0" rIns="0" bIns="0" rtlCol="0" anchor="ctr"/>
          <a:lstStyle/>
          <a:p>
            <a:pPr marL="0" indent="0">
              <a:lnSpc>
                <a:spcPts val="1700"/>
              </a:lnSpc>
              <a:buNone/>
            </a:pPr>
            <a:r>
              <a:rPr lang="en-US" sz="1200" dirty="0">
                <a:solidFill>
                  <a:srgbClr val="3D5468"/>
                </a:solidFill>
                <a:latin typeface="Calibri" pitchFamily="34" charset="0"/>
                <a:ea typeface="Calibri" pitchFamily="34" charset="-122"/>
                <a:cs typeface="Calibri" pitchFamily="34" charset="-120"/>
              </a:rPr>
              <a:t>Flood, fire and earthquake systems are separate silos, so each new disaster type means a new procurement, not a new configuration.</a:t>
            </a:r>
            <a:endParaRPr lang="en-US" sz="1200" dirty="0"/>
          </a:p>
        </p:txBody>
      </p:sp>
      <p:sp>
        <p:nvSpPr>
          <p:cNvPr id="30" name="Shape 28"/>
          <p:cNvSpPr/>
          <p:nvPr/>
        </p:nvSpPr>
        <p:spPr>
          <a:xfrm>
            <a:off x="6309360" y="5870448"/>
            <a:ext cx="5242255" cy="530352"/>
          </a:xfrm>
          <a:prstGeom prst="rect">
            <a:avLst/>
          </a:prstGeom>
          <a:solidFill>
            <a:srgbClr val="E8EEF3"/>
          </a:solidFill>
          <a:ln w="15875">
            <a:solidFill>
              <a:srgbClr val="9FAFBE"/>
            </a:solidFill>
            <a:prstDash val="solid"/>
          </a:ln>
        </p:spPr>
      </p:sp>
      <p:sp>
        <p:nvSpPr>
          <p:cNvPr id="31" name="Text 29"/>
          <p:cNvSpPr txBox="1"/>
          <p:nvPr/>
        </p:nvSpPr>
        <p:spPr>
          <a:xfrm>
            <a:off x="6547104" y="5870448"/>
            <a:ext cx="4785055" cy="530352"/>
          </a:xfrm>
          <a:prstGeom prst="rect">
            <a:avLst/>
          </a:prstGeom>
          <a:noFill/>
          <a:ln/>
        </p:spPr>
        <p:txBody>
          <a:bodyPr wrap="square" lIns="0" tIns="0" rIns="0" bIns="0" rtlCol="0" anchor="ctr"/>
          <a:lstStyle/>
          <a:p>
            <a:pPr marL="0" indent="0">
              <a:buNone/>
            </a:pPr>
            <a:r>
              <a:rPr lang="en-US" sz="1250" b="1" dirty="0">
                <a:solidFill>
                  <a:srgbClr val="B23A24"/>
                </a:solidFill>
                <a:latin typeface="Calibri" pitchFamily="34" charset="0"/>
                <a:ea typeface="Calibri" pitchFamily="34" charset="-122"/>
                <a:cs typeface="Calibri" pitchFamily="34" charset="-120"/>
              </a:rPr>
              <a:t>Our idea:  </a:t>
            </a:r>
            <a:r>
              <a:rPr lang="en-US" sz="1250" dirty="0">
                <a:solidFill>
                  <a:srgbClr val="11253C"/>
                </a:solidFill>
                <a:latin typeface="Calibri" pitchFamily="34" charset="0"/>
                <a:ea typeface="Calibri" pitchFamily="34" charset="-122"/>
                <a:cs typeface="Calibri" pitchFamily="34" charset="-120"/>
              </a:rPr>
              <a:t>one agentic platform that turns any disaster signal into a ranked, policy-cited, ward-level action plan.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04  ·  OBJECTIVES</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Objectives</a:t>
            </a:r>
            <a:endParaRPr lang="en-US" sz="3300" dirty="0"/>
          </a:p>
        </p:txBody>
      </p:sp>
      <p:sp>
        <p:nvSpPr>
          <p:cNvPr id="4" name="Shape 2"/>
          <p:cNvSpPr/>
          <p:nvPr/>
        </p:nvSpPr>
        <p:spPr>
          <a:xfrm>
            <a:off x="640080" y="1627632"/>
            <a:ext cx="3456432" cy="1883664"/>
          </a:xfrm>
          <a:prstGeom prst="rect">
            <a:avLst/>
          </a:prstGeom>
          <a:solidFill>
            <a:srgbClr val="F3F6F9"/>
          </a:solidFill>
          <a:ln w="9525">
            <a:solidFill>
              <a:srgbClr val="CFD8E1"/>
            </a:solidFill>
            <a:prstDash val="solid"/>
          </a:ln>
        </p:spPr>
      </p:sp>
      <p:sp>
        <p:nvSpPr>
          <p:cNvPr id="5" name="Shape 3"/>
          <p:cNvSpPr/>
          <p:nvPr/>
        </p:nvSpPr>
        <p:spPr>
          <a:xfrm>
            <a:off x="896112" y="1847088"/>
            <a:ext cx="365760" cy="365760"/>
          </a:xfrm>
          <a:prstGeom prst="ellipse">
            <a:avLst/>
          </a:prstGeom>
          <a:solidFill>
            <a:srgbClr val="2E7D8F"/>
          </a:solidFill>
          <a:ln w="12700">
            <a:solidFill>
              <a:srgbClr val="2E7D8F"/>
            </a:solidFill>
            <a:prstDash val="solid"/>
          </a:ln>
        </p:spPr>
      </p:sp>
      <p:sp>
        <p:nvSpPr>
          <p:cNvPr id="6" name="Text 4"/>
          <p:cNvSpPr txBox="1"/>
          <p:nvPr/>
        </p:nvSpPr>
        <p:spPr>
          <a:xfrm>
            <a:off x="896112"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96112" y="230428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Forecast at the granularity people live at</a:t>
            </a:r>
            <a:endParaRPr lang="en-US" sz="1500" dirty="0"/>
          </a:p>
        </p:txBody>
      </p:sp>
      <p:sp>
        <p:nvSpPr>
          <p:cNvPr id="8" name="Text 6"/>
          <p:cNvSpPr txBox="1"/>
          <p:nvPr/>
        </p:nvSpPr>
        <p:spPr>
          <a:xfrm>
            <a:off x="896112" y="2871216"/>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Score every 250 m grid cell and every municipal ward, 6 to 72 hours ahead, for any hazard registered on the platform.</a:t>
            </a:r>
            <a:endParaRPr lang="en-US" sz="1150" dirty="0"/>
          </a:p>
        </p:txBody>
      </p:sp>
      <p:sp>
        <p:nvSpPr>
          <p:cNvPr id="9" name="Shape 7"/>
          <p:cNvSpPr/>
          <p:nvPr/>
        </p:nvSpPr>
        <p:spPr>
          <a:xfrm>
            <a:off x="4367632" y="1627632"/>
            <a:ext cx="3456432" cy="1883664"/>
          </a:xfrm>
          <a:prstGeom prst="rect">
            <a:avLst/>
          </a:prstGeom>
          <a:solidFill>
            <a:srgbClr val="F3F6F9"/>
          </a:solidFill>
          <a:ln w="9525">
            <a:solidFill>
              <a:srgbClr val="CFD8E1"/>
            </a:solidFill>
            <a:prstDash val="solid"/>
          </a:ln>
        </p:spPr>
      </p:sp>
      <p:sp>
        <p:nvSpPr>
          <p:cNvPr id="10" name="Shape 8"/>
          <p:cNvSpPr/>
          <p:nvPr/>
        </p:nvSpPr>
        <p:spPr>
          <a:xfrm>
            <a:off x="4623664" y="1847088"/>
            <a:ext cx="365760" cy="365760"/>
          </a:xfrm>
          <a:prstGeom prst="ellipse">
            <a:avLst/>
          </a:prstGeom>
          <a:solidFill>
            <a:srgbClr val="B23A24"/>
          </a:solidFill>
          <a:ln w="12700">
            <a:solidFill>
              <a:srgbClr val="B23A24"/>
            </a:solidFill>
            <a:prstDash val="solid"/>
          </a:ln>
        </p:spPr>
      </p:sp>
      <p:sp>
        <p:nvSpPr>
          <p:cNvPr id="11" name="Text 9"/>
          <p:cNvSpPr txBox="1"/>
          <p:nvPr/>
        </p:nvSpPr>
        <p:spPr>
          <a:xfrm>
            <a:off x="4623664"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599432" y="206579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Decide within written authority</a:t>
            </a:r>
            <a:endParaRPr lang="en-US" sz="1500" dirty="0"/>
          </a:p>
        </p:txBody>
      </p:sp>
      <p:sp>
        <p:nvSpPr>
          <p:cNvPr id="13" name="Text 11"/>
          <p:cNvSpPr txBox="1"/>
          <p:nvPr/>
        </p:nvSpPr>
        <p:spPr>
          <a:xfrm>
            <a:off x="4599432" y="2733310"/>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Ground every recommendation in retrieved NDMA and municipal SOPs, so each action carries the clause that permits it.</a:t>
            </a:r>
            <a:endParaRPr lang="en-US" sz="1150" dirty="0"/>
          </a:p>
        </p:txBody>
      </p:sp>
      <p:sp>
        <p:nvSpPr>
          <p:cNvPr id="14" name="Shape 12"/>
          <p:cNvSpPr/>
          <p:nvPr/>
        </p:nvSpPr>
        <p:spPr>
          <a:xfrm>
            <a:off x="8095183" y="1627632"/>
            <a:ext cx="3456432" cy="1883664"/>
          </a:xfrm>
          <a:prstGeom prst="rect">
            <a:avLst/>
          </a:prstGeom>
          <a:solidFill>
            <a:srgbClr val="F3F6F9"/>
          </a:solidFill>
          <a:ln w="9525">
            <a:solidFill>
              <a:srgbClr val="CFD8E1"/>
            </a:solidFill>
            <a:prstDash val="solid"/>
          </a:ln>
        </p:spPr>
      </p:sp>
      <p:sp>
        <p:nvSpPr>
          <p:cNvPr id="15" name="Shape 13"/>
          <p:cNvSpPr/>
          <p:nvPr/>
        </p:nvSpPr>
        <p:spPr>
          <a:xfrm>
            <a:off x="8351215" y="1847088"/>
            <a:ext cx="365760" cy="365760"/>
          </a:xfrm>
          <a:prstGeom prst="ellipse">
            <a:avLst/>
          </a:prstGeom>
          <a:solidFill>
            <a:srgbClr val="6E5596"/>
          </a:solidFill>
          <a:ln w="12700">
            <a:solidFill>
              <a:srgbClr val="6E5596"/>
            </a:solidFill>
            <a:prstDash val="solid"/>
          </a:ln>
        </p:spPr>
      </p:sp>
      <p:sp>
        <p:nvSpPr>
          <p:cNvPr id="16" name="Text 14"/>
          <p:cNvSpPr txBox="1"/>
          <p:nvPr/>
        </p:nvSpPr>
        <p:spPr>
          <a:xfrm>
            <a:off x="8351215" y="18470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351215" y="2304288"/>
            <a:ext cx="2944368" cy="548640"/>
          </a:xfrm>
          <a:prstGeom prst="rect">
            <a:avLst/>
          </a:prstGeom>
          <a:noFill/>
          <a:ln/>
        </p:spPr>
        <p:txBody>
          <a:bodyPr wrap="square" lIns="0" tIns="0" rIns="0" bIns="0" rtlCol="0" anchor="b"/>
          <a:lstStyle/>
          <a:p>
            <a:pPr marL="0" indent="0">
              <a:lnSpc>
                <a:spcPts val="2000"/>
              </a:lnSpc>
              <a:buNone/>
            </a:pPr>
            <a:r>
              <a:rPr lang="en-US" sz="1500" b="1" dirty="0">
                <a:solidFill>
                  <a:srgbClr val="11253C"/>
                </a:solidFill>
                <a:latin typeface="Calibri" pitchFamily="34" charset="0"/>
                <a:ea typeface="Calibri" pitchFamily="34" charset="-122"/>
                <a:cs typeface="Calibri" pitchFamily="34" charset="-120"/>
              </a:rPr>
              <a:t>Route resources and people optimally</a:t>
            </a:r>
            <a:endParaRPr lang="en-US" sz="1500" dirty="0"/>
          </a:p>
        </p:txBody>
      </p:sp>
      <p:sp>
        <p:nvSpPr>
          <p:cNvPr id="18" name="Text 16"/>
          <p:cNvSpPr txBox="1"/>
          <p:nvPr/>
        </p:nvSpPr>
        <p:spPr>
          <a:xfrm>
            <a:off x="8351215" y="2871216"/>
            <a:ext cx="2944368" cy="60350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Assign teams and equipment by constrained optimisation, and guide each resident to a reachable safe location by name.</a:t>
            </a:r>
            <a:endParaRPr lang="en-US" sz="1150" dirty="0"/>
          </a:p>
        </p:txBody>
      </p:sp>
      <p:sp>
        <p:nvSpPr>
          <p:cNvPr id="19" name="Text 17"/>
          <p:cNvSpPr txBox="1"/>
          <p:nvPr/>
        </p:nvSpPr>
        <p:spPr>
          <a:xfrm>
            <a:off x="640080" y="3822192"/>
            <a:ext cx="512064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EXPECTED IMPACT</a:t>
            </a:r>
            <a:endParaRPr lang="en-US" sz="1000" dirty="0"/>
          </a:p>
        </p:txBody>
      </p:sp>
      <p:sp>
        <p:nvSpPr>
          <p:cNvPr id="20" name="Text 18"/>
          <p:cNvSpPr txBox="1"/>
          <p:nvPr/>
        </p:nvSpPr>
        <p:spPr>
          <a:xfrm>
            <a:off x="640080" y="413308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Lead time   </a:t>
            </a:r>
            <a:r>
              <a:rPr lang="en-US" sz="1200" dirty="0">
                <a:solidFill>
                  <a:srgbClr val="3D5468"/>
                </a:solidFill>
                <a:latin typeface="Calibri" pitchFamily="34" charset="0"/>
                <a:ea typeface="Calibri" pitchFamily="34" charset="-122"/>
                <a:cs typeface="Calibri" pitchFamily="34" charset="-120"/>
              </a:rPr>
              <a:t>Actionable ward-level instruction 6–72 h before impact, instead of a same-day district bulletin.</a:t>
            </a:r>
            <a:endParaRPr lang="en-US" sz="1200" dirty="0"/>
          </a:p>
        </p:txBody>
      </p:sp>
      <p:sp>
        <p:nvSpPr>
          <p:cNvPr id="21" name="Shape 19"/>
          <p:cNvSpPr/>
          <p:nvPr/>
        </p:nvSpPr>
        <p:spPr>
          <a:xfrm>
            <a:off x="640080" y="4590288"/>
            <a:ext cx="6903720" cy="0"/>
          </a:xfrm>
          <a:prstGeom prst="line">
            <a:avLst/>
          </a:prstGeom>
          <a:noFill/>
          <a:ln w="9525">
            <a:solidFill>
              <a:srgbClr val="CFD8E1"/>
            </a:solidFill>
            <a:prstDash val="solid"/>
          </a:ln>
        </p:spPr>
      </p:sp>
      <p:sp>
        <p:nvSpPr>
          <p:cNvPr id="22" name="Text 20"/>
          <p:cNvSpPr txBox="1"/>
          <p:nvPr/>
        </p:nvSpPr>
        <p:spPr>
          <a:xfrm>
            <a:off x="640080" y="468172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Efficiency   </a:t>
            </a:r>
            <a:r>
              <a:rPr lang="en-US" sz="1200" dirty="0">
                <a:solidFill>
                  <a:srgbClr val="3D5468"/>
                </a:solidFill>
                <a:latin typeface="Calibri" pitchFamily="34" charset="0"/>
                <a:ea typeface="Calibri" pitchFamily="34" charset="-122"/>
                <a:cs typeface="Calibri" pitchFamily="34" charset="-120"/>
              </a:rPr>
              <a:t>Optimised dispatch reduces response travel time and prevents duplicate deployment to one incident.</a:t>
            </a:r>
            <a:endParaRPr lang="en-US" sz="1200" dirty="0"/>
          </a:p>
        </p:txBody>
      </p:sp>
      <p:sp>
        <p:nvSpPr>
          <p:cNvPr id="23" name="Shape 21"/>
          <p:cNvSpPr/>
          <p:nvPr/>
        </p:nvSpPr>
        <p:spPr>
          <a:xfrm>
            <a:off x="640080" y="5138928"/>
            <a:ext cx="6903720" cy="0"/>
          </a:xfrm>
          <a:prstGeom prst="line">
            <a:avLst/>
          </a:prstGeom>
          <a:noFill/>
          <a:ln w="9525">
            <a:solidFill>
              <a:srgbClr val="CFD8E1"/>
            </a:solidFill>
            <a:prstDash val="solid"/>
          </a:ln>
        </p:spPr>
      </p:sp>
      <p:sp>
        <p:nvSpPr>
          <p:cNvPr id="24" name="Text 22"/>
          <p:cNvSpPr txBox="1"/>
          <p:nvPr/>
        </p:nvSpPr>
        <p:spPr>
          <a:xfrm>
            <a:off x="640080" y="523036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Accountability   </a:t>
            </a:r>
            <a:r>
              <a:rPr lang="en-US" sz="1200" dirty="0">
                <a:solidFill>
                  <a:srgbClr val="3D5468"/>
                </a:solidFill>
                <a:latin typeface="Calibri" pitchFamily="34" charset="0"/>
                <a:ea typeface="Calibri" pitchFamily="34" charset="-122"/>
                <a:cs typeface="Calibri" pitchFamily="34" charset="-120"/>
              </a:rPr>
              <a:t>Every recommendation, cited clause, approval and override is logged as an auditable record.</a:t>
            </a:r>
            <a:endParaRPr lang="en-US" sz="1200" dirty="0"/>
          </a:p>
        </p:txBody>
      </p:sp>
      <p:sp>
        <p:nvSpPr>
          <p:cNvPr id="25" name="Shape 23"/>
          <p:cNvSpPr/>
          <p:nvPr/>
        </p:nvSpPr>
        <p:spPr>
          <a:xfrm>
            <a:off x="640080" y="5687568"/>
            <a:ext cx="6903720" cy="0"/>
          </a:xfrm>
          <a:prstGeom prst="line">
            <a:avLst/>
          </a:prstGeom>
          <a:noFill/>
          <a:ln w="9525">
            <a:solidFill>
              <a:srgbClr val="CFD8E1"/>
            </a:solidFill>
            <a:prstDash val="solid"/>
          </a:ln>
        </p:spPr>
      </p:sp>
      <p:sp>
        <p:nvSpPr>
          <p:cNvPr id="26" name="Text 24"/>
          <p:cNvSpPr txBox="1"/>
          <p:nvPr/>
        </p:nvSpPr>
        <p:spPr>
          <a:xfrm>
            <a:off x="640080" y="5779008"/>
            <a:ext cx="6903720" cy="420624"/>
          </a:xfrm>
          <a:prstGeom prst="rect">
            <a:avLst/>
          </a:prstGeom>
          <a:noFill/>
          <a:ln/>
        </p:spPr>
        <p:txBody>
          <a:bodyPr wrap="square" lIns="0" tIns="0" rIns="0" bIns="0" rtlCol="0" anchor="ctr"/>
          <a:lstStyle/>
          <a:p>
            <a:pPr marL="0" indent="0">
              <a:lnSpc>
                <a:spcPts val="1650"/>
              </a:lnSpc>
              <a:buNone/>
            </a:pPr>
            <a:r>
              <a:rPr lang="en-US" sz="1200" b="1" dirty="0">
                <a:solidFill>
                  <a:srgbClr val="11253C"/>
                </a:solidFill>
                <a:latin typeface="Calibri" pitchFamily="34" charset="0"/>
                <a:ea typeface="Calibri" pitchFamily="34" charset="-122"/>
                <a:cs typeface="Calibri" pitchFamily="34" charset="-120"/>
              </a:rPr>
              <a:t>Sustainability   </a:t>
            </a:r>
            <a:r>
              <a:rPr lang="en-US" sz="1200" dirty="0">
                <a:solidFill>
                  <a:srgbClr val="3D5468"/>
                </a:solidFill>
                <a:latin typeface="Calibri" pitchFamily="34" charset="0"/>
                <a:ea typeface="Calibri" pitchFamily="34" charset="-122"/>
                <a:cs typeface="Calibri" pitchFamily="34" charset="-120"/>
              </a:rPr>
              <a:t>One platform absorbs a new disaster type by configuration, not by a fresh system build.</a:t>
            </a:r>
            <a:endParaRPr lang="en-US" sz="1200" dirty="0"/>
          </a:p>
        </p:txBody>
      </p:sp>
      <p:sp>
        <p:nvSpPr>
          <p:cNvPr id="27" name="Shape 25"/>
          <p:cNvSpPr/>
          <p:nvPr/>
        </p:nvSpPr>
        <p:spPr>
          <a:xfrm>
            <a:off x="640080" y="6236208"/>
            <a:ext cx="6903720" cy="0"/>
          </a:xfrm>
          <a:prstGeom prst="line">
            <a:avLst/>
          </a:prstGeom>
          <a:noFill/>
          <a:ln w="9525">
            <a:solidFill>
              <a:srgbClr val="CFD8E1"/>
            </a:solidFill>
            <a:prstDash val="solid"/>
          </a:ln>
        </p:spPr>
      </p:sp>
      <p:sp>
        <p:nvSpPr>
          <p:cNvPr id="28" name="Shape 26"/>
          <p:cNvSpPr/>
          <p:nvPr/>
        </p:nvSpPr>
        <p:spPr>
          <a:xfrm>
            <a:off x="7973568" y="3822192"/>
            <a:ext cx="3578047" cy="2377440"/>
          </a:xfrm>
          <a:prstGeom prst="rect">
            <a:avLst/>
          </a:prstGeom>
          <a:solidFill>
            <a:srgbClr val="E8EEF3"/>
          </a:solidFill>
          <a:ln w="9525">
            <a:solidFill>
              <a:srgbClr val="CFD8E1"/>
            </a:solidFill>
            <a:prstDash val="solid"/>
          </a:ln>
        </p:spPr>
      </p:sp>
      <p:sp>
        <p:nvSpPr>
          <p:cNvPr id="29" name="Text 27"/>
          <p:cNvSpPr txBox="1"/>
          <p:nvPr/>
        </p:nvSpPr>
        <p:spPr>
          <a:xfrm>
            <a:off x="8247888" y="4041648"/>
            <a:ext cx="301752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END BENEFICIARIES</a:t>
            </a:r>
            <a:endParaRPr lang="en-US" sz="1000" dirty="0"/>
          </a:p>
        </p:txBody>
      </p:sp>
      <p:sp>
        <p:nvSpPr>
          <p:cNvPr id="30" name="Shape 28"/>
          <p:cNvSpPr/>
          <p:nvPr/>
        </p:nvSpPr>
        <p:spPr>
          <a:xfrm>
            <a:off x="8247888" y="4517136"/>
            <a:ext cx="100584" cy="100584"/>
          </a:xfrm>
          <a:prstGeom prst="ellipse">
            <a:avLst/>
          </a:prstGeom>
          <a:solidFill>
            <a:srgbClr val="11253C"/>
          </a:solidFill>
          <a:ln w="12700">
            <a:solidFill>
              <a:srgbClr val="11253C"/>
            </a:solidFill>
            <a:prstDash val="solid"/>
          </a:ln>
        </p:spPr>
      </p:sp>
      <p:sp>
        <p:nvSpPr>
          <p:cNvPr id="31" name="Text 29"/>
          <p:cNvSpPr txBox="1"/>
          <p:nvPr/>
        </p:nvSpPr>
        <p:spPr>
          <a:xfrm>
            <a:off x="8485632" y="441655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Residents of high-risk wards</a:t>
            </a:r>
            <a:endParaRPr lang="en-US" sz="1200" dirty="0"/>
          </a:p>
        </p:txBody>
      </p:sp>
      <p:sp>
        <p:nvSpPr>
          <p:cNvPr id="32" name="Shape 30"/>
          <p:cNvSpPr/>
          <p:nvPr/>
        </p:nvSpPr>
        <p:spPr>
          <a:xfrm>
            <a:off x="8247888" y="4882896"/>
            <a:ext cx="100584" cy="100584"/>
          </a:xfrm>
          <a:prstGeom prst="ellipse">
            <a:avLst/>
          </a:prstGeom>
          <a:solidFill>
            <a:srgbClr val="11253C"/>
          </a:solidFill>
          <a:ln w="12700">
            <a:solidFill>
              <a:srgbClr val="11253C"/>
            </a:solidFill>
            <a:prstDash val="solid"/>
          </a:ln>
        </p:spPr>
      </p:sp>
      <p:sp>
        <p:nvSpPr>
          <p:cNvPr id="33" name="Text 31"/>
          <p:cNvSpPr txBox="1"/>
          <p:nvPr/>
        </p:nvSpPr>
        <p:spPr>
          <a:xfrm>
            <a:off x="8485632" y="478231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Municipal disaster management cells</a:t>
            </a:r>
            <a:endParaRPr lang="en-US" sz="1200" dirty="0"/>
          </a:p>
        </p:txBody>
      </p:sp>
      <p:sp>
        <p:nvSpPr>
          <p:cNvPr id="34" name="Shape 32"/>
          <p:cNvSpPr/>
          <p:nvPr/>
        </p:nvSpPr>
        <p:spPr>
          <a:xfrm>
            <a:off x="8247888" y="5248656"/>
            <a:ext cx="100584" cy="100584"/>
          </a:xfrm>
          <a:prstGeom prst="ellipse">
            <a:avLst/>
          </a:prstGeom>
          <a:solidFill>
            <a:srgbClr val="11253C"/>
          </a:solidFill>
          <a:ln w="12700">
            <a:solidFill>
              <a:srgbClr val="11253C"/>
            </a:solidFill>
            <a:prstDash val="solid"/>
          </a:ln>
        </p:spPr>
      </p:sp>
      <p:sp>
        <p:nvSpPr>
          <p:cNvPr id="35" name="Text 33"/>
          <p:cNvSpPr txBox="1"/>
          <p:nvPr/>
        </p:nvSpPr>
        <p:spPr>
          <a:xfrm>
            <a:off x="8485632" y="514807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Ward officers and field teams</a:t>
            </a:r>
            <a:endParaRPr lang="en-US" sz="1200" dirty="0"/>
          </a:p>
        </p:txBody>
      </p:sp>
      <p:sp>
        <p:nvSpPr>
          <p:cNvPr id="36" name="Shape 34"/>
          <p:cNvSpPr/>
          <p:nvPr/>
        </p:nvSpPr>
        <p:spPr>
          <a:xfrm>
            <a:off x="8247888" y="5614416"/>
            <a:ext cx="100584" cy="100584"/>
          </a:xfrm>
          <a:prstGeom prst="ellipse">
            <a:avLst/>
          </a:prstGeom>
          <a:solidFill>
            <a:srgbClr val="11253C"/>
          </a:solidFill>
          <a:ln w="12700">
            <a:solidFill>
              <a:srgbClr val="11253C"/>
            </a:solidFill>
            <a:prstDash val="solid"/>
          </a:ln>
        </p:spPr>
      </p:sp>
      <p:sp>
        <p:nvSpPr>
          <p:cNvPr id="37" name="Text 35"/>
          <p:cNvSpPr txBox="1"/>
          <p:nvPr/>
        </p:nvSpPr>
        <p:spPr>
          <a:xfrm>
            <a:off x="8485632" y="551383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Transport, fire and ambulance services</a:t>
            </a:r>
            <a:endParaRPr lang="en-US" sz="1200" dirty="0"/>
          </a:p>
        </p:txBody>
      </p:sp>
      <p:sp>
        <p:nvSpPr>
          <p:cNvPr id="38" name="Shape 36"/>
          <p:cNvSpPr/>
          <p:nvPr/>
        </p:nvSpPr>
        <p:spPr>
          <a:xfrm>
            <a:off x="8247888" y="5980176"/>
            <a:ext cx="100584" cy="100584"/>
          </a:xfrm>
          <a:prstGeom prst="ellipse">
            <a:avLst/>
          </a:prstGeom>
          <a:solidFill>
            <a:srgbClr val="11253C"/>
          </a:solidFill>
          <a:ln w="12700">
            <a:solidFill>
              <a:srgbClr val="11253C"/>
            </a:solidFill>
            <a:prstDash val="solid"/>
          </a:ln>
        </p:spPr>
      </p:sp>
      <p:sp>
        <p:nvSpPr>
          <p:cNvPr id="39" name="Text 37"/>
          <p:cNvSpPr txBox="1"/>
          <p:nvPr/>
        </p:nvSpPr>
        <p:spPr>
          <a:xfrm>
            <a:off x="8485632" y="5879592"/>
            <a:ext cx="2788920" cy="274320"/>
          </a:xfrm>
          <a:prstGeom prst="rect">
            <a:avLst/>
          </a:prstGeom>
          <a:noFill/>
          <a:ln/>
        </p:spPr>
        <p:txBody>
          <a:bodyPr wrap="square" lIns="0" tIns="0" rIns="0" bIns="0" rtlCol="0" anchor="ctr"/>
          <a:lstStyle/>
          <a:p>
            <a:pPr marL="0" indent="0">
              <a:buNone/>
            </a:pPr>
            <a:r>
              <a:rPr lang="en-US" sz="1200" dirty="0">
                <a:solidFill>
                  <a:srgbClr val="11253C"/>
                </a:solidFill>
                <a:latin typeface="Calibri" pitchFamily="34" charset="0"/>
                <a:ea typeface="Calibri" pitchFamily="34" charset="-122"/>
                <a:cs typeface="Calibri" pitchFamily="34" charset="-120"/>
              </a:rPr>
              <a:t>District collectorate, SDMA / NDMA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05  ·  ARCHITECTURE</a:t>
            </a:r>
            <a:endParaRPr lang="en-US" sz="1050" dirty="0"/>
          </a:p>
        </p:txBody>
      </p:sp>
      <p:sp>
        <p:nvSpPr>
          <p:cNvPr id="3" name="Text 1"/>
          <p:cNvSpPr txBox="1"/>
          <p:nvPr/>
        </p:nvSpPr>
        <p:spPr>
          <a:xfrm>
            <a:off x="640080" y="640080"/>
            <a:ext cx="10911535" cy="512064"/>
          </a:xfrm>
          <a:prstGeom prst="rect">
            <a:avLst/>
          </a:prstGeom>
          <a:noFill/>
          <a:ln/>
        </p:spPr>
        <p:txBody>
          <a:bodyPr wrap="square" lIns="0" tIns="0" rIns="0" bIns="0" rtlCol="0" anchor="ctr"/>
          <a:lstStyle/>
          <a:p>
            <a:pPr marL="0" indent="0" algn="l">
              <a:buNone/>
            </a:pPr>
            <a:r>
              <a:rPr lang="en-US" sz="2900" b="1" dirty="0">
                <a:solidFill>
                  <a:srgbClr val="11253C"/>
                </a:solidFill>
                <a:latin typeface="Cambria" pitchFamily="34" charset="0"/>
                <a:ea typeface="Cambria" pitchFamily="34" charset="-122"/>
                <a:cs typeface="Cambria" pitchFamily="34" charset="-120"/>
              </a:rPr>
              <a:t>Proposed Solution / Architecture</a:t>
            </a:r>
            <a:endParaRPr lang="en-US" sz="2900" dirty="0"/>
          </a:p>
        </p:txBody>
      </p:sp>
      <p:sp>
        <p:nvSpPr>
          <p:cNvPr id="4" name="Text 2"/>
          <p:cNvSpPr txBox="1"/>
          <p:nvPr/>
        </p:nvSpPr>
        <p:spPr>
          <a:xfrm>
            <a:off x="640080" y="1225296"/>
            <a:ext cx="8686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1   DATA INGESTION   —   live hazard feeds joined to static exposure geography</a:t>
            </a:r>
            <a:endParaRPr lang="en-US" sz="950" dirty="0"/>
          </a:p>
        </p:txBody>
      </p:sp>
      <p:sp>
        <p:nvSpPr>
          <p:cNvPr id="5" name="Shape 3"/>
          <p:cNvSpPr/>
          <p:nvPr/>
        </p:nvSpPr>
        <p:spPr>
          <a:xfrm>
            <a:off x="640080" y="1444752"/>
            <a:ext cx="2021373" cy="621792"/>
          </a:xfrm>
          <a:prstGeom prst="rect">
            <a:avLst/>
          </a:prstGeom>
          <a:solidFill>
            <a:srgbClr val="FFFFFF"/>
          </a:solidFill>
          <a:ln w="9525">
            <a:solidFill>
              <a:srgbClr val="CFD8E1"/>
            </a:solidFill>
            <a:prstDash val="solid"/>
          </a:ln>
        </p:spPr>
      </p:sp>
      <p:sp>
        <p:nvSpPr>
          <p:cNvPr id="6" name="Text 4"/>
          <p:cNvSpPr txBox="1"/>
          <p:nvPr/>
        </p:nvSpPr>
        <p:spPr>
          <a:xfrm>
            <a:off x="731520"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Open-Meteo</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rainfall + GloFAS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river discharge</a:t>
            </a:r>
            <a:endParaRPr lang="en-US" sz="1000" dirty="0"/>
          </a:p>
        </p:txBody>
      </p:sp>
      <p:sp>
        <p:nvSpPr>
          <p:cNvPr id="7" name="Shape 5"/>
          <p:cNvSpPr/>
          <p:nvPr/>
        </p:nvSpPr>
        <p:spPr>
          <a:xfrm>
            <a:off x="2862621" y="1444752"/>
            <a:ext cx="2021373" cy="621792"/>
          </a:xfrm>
          <a:prstGeom prst="rect">
            <a:avLst/>
          </a:prstGeom>
          <a:solidFill>
            <a:srgbClr val="FFFFFF"/>
          </a:solidFill>
          <a:ln w="9525">
            <a:solidFill>
              <a:srgbClr val="CFD8E1"/>
            </a:solidFill>
            <a:prstDash val="solid"/>
          </a:ln>
        </p:spPr>
      </p:sp>
      <p:sp>
        <p:nvSpPr>
          <p:cNvPr id="8" name="Text 6"/>
          <p:cNvSpPr txBox="1"/>
          <p:nvPr/>
        </p:nvSpPr>
        <p:spPr>
          <a:xfrm>
            <a:off x="2954061"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IMD warnings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CPCB / CAMS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air quality</a:t>
            </a:r>
            <a:endParaRPr lang="en-US" sz="1000" dirty="0"/>
          </a:p>
        </p:txBody>
      </p:sp>
      <p:sp>
        <p:nvSpPr>
          <p:cNvPr id="9" name="Shape 7"/>
          <p:cNvSpPr/>
          <p:nvPr/>
        </p:nvSpPr>
        <p:spPr>
          <a:xfrm>
            <a:off x="5085161" y="1444752"/>
            <a:ext cx="2021373" cy="621792"/>
          </a:xfrm>
          <a:prstGeom prst="rect">
            <a:avLst/>
          </a:prstGeom>
          <a:solidFill>
            <a:srgbClr val="FFFFFF"/>
          </a:solidFill>
          <a:ln w="9525">
            <a:solidFill>
              <a:srgbClr val="CFD8E1"/>
            </a:solidFill>
            <a:prstDash val="solid"/>
          </a:ln>
        </p:spPr>
      </p:sp>
      <p:sp>
        <p:nvSpPr>
          <p:cNvPr id="10" name="Text 8"/>
          <p:cNvSpPr txBox="1"/>
          <p:nvPr/>
        </p:nvSpPr>
        <p:spPr>
          <a:xfrm>
            <a:off x="5176601"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CWC reservoir</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levels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(Khadakwasla)</a:t>
            </a:r>
            <a:endParaRPr lang="en-US" sz="1000" dirty="0"/>
          </a:p>
        </p:txBody>
      </p:sp>
      <p:sp>
        <p:nvSpPr>
          <p:cNvPr id="11" name="Shape 9"/>
          <p:cNvSpPr/>
          <p:nvPr/>
        </p:nvSpPr>
        <p:spPr>
          <a:xfrm>
            <a:off x="7307702" y="1444752"/>
            <a:ext cx="2021373" cy="621792"/>
          </a:xfrm>
          <a:prstGeom prst="rect">
            <a:avLst/>
          </a:prstGeom>
          <a:solidFill>
            <a:srgbClr val="FFFFFF"/>
          </a:solidFill>
          <a:ln w="9525">
            <a:solidFill>
              <a:srgbClr val="CFD8E1"/>
            </a:solidFill>
            <a:prstDash val="solid"/>
          </a:ln>
        </p:spPr>
      </p:sp>
      <p:sp>
        <p:nvSpPr>
          <p:cNvPr id="12" name="Text 10"/>
          <p:cNvSpPr txBox="1"/>
          <p:nvPr/>
        </p:nvSpPr>
        <p:spPr>
          <a:xfrm>
            <a:off x="7399142"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NASA FIRMS fire</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USGS seismic</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GDACS alerts</a:t>
            </a:r>
            <a:endParaRPr lang="en-US" sz="1000" dirty="0"/>
          </a:p>
        </p:txBody>
      </p:sp>
      <p:sp>
        <p:nvSpPr>
          <p:cNvPr id="13" name="Shape 11"/>
          <p:cNvSpPr/>
          <p:nvPr/>
        </p:nvSpPr>
        <p:spPr>
          <a:xfrm>
            <a:off x="9530243" y="1444752"/>
            <a:ext cx="2021373" cy="621792"/>
          </a:xfrm>
          <a:prstGeom prst="rect">
            <a:avLst/>
          </a:prstGeom>
          <a:solidFill>
            <a:srgbClr val="FFFFFF"/>
          </a:solidFill>
          <a:ln w="9525">
            <a:solidFill>
              <a:srgbClr val="CFD8E1"/>
            </a:solidFill>
            <a:prstDash val="solid"/>
          </a:ln>
        </p:spPr>
      </p:sp>
      <p:sp>
        <p:nvSpPr>
          <p:cNvPr id="14" name="Text 12"/>
          <p:cNvSpPr txBox="1"/>
          <p:nvPr/>
        </p:nvSpPr>
        <p:spPr>
          <a:xfrm>
            <a:off x="9621683" y="1444752"/>
            <a:ext cx="1838493" cy="621792"/>
          </a:xfrm>
          <a:prstGeom prst="rect">
            <a:avLst/>
          </a:prstGeom>
          <a:noFill/>
          <a:ln/>
        </p:spPr>
        <p:txBody>
          <a:bodyPr wrap="square" lIns="0" tIns="0" rIns="0" bIns="0" rtlCol="0" anchor="ctr"/>
          <a:lstStyle/>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OSM roads · DEM</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Census · wards</a:t>
            </a:r>
            <a:endParaRPr lang="en-US" sz="1000" dirty="0"/>
          </a:p>
          <a:p>
            <a:pPr marL="0" indent="0" algn="ctr">
              <a:lnSpc>
                <a:spcPts val="1300"/>
              </a:lnSpc>
              <a:buNone/>
            </a:pPr>
            <a:r>
              <a:rPr lang="en-US" sz="1000" dirty="0">
                <a:solidFill>
                  <a:srgbClr val="11253C"/>
                </a:solidFill>
                <a:latin typeface="Calibri" pitchFamily="34" charset="0"/>
                <a:ea typeface="Calibri" pitchFamily="34" charset="-122"/>
                <a:cs typeface="Calibri" pitchFamily="34" charset="-120"/>
              </a:rPr>
              <a:t>(Supabase PostGIS)</a:t>
            </a:r>
            <a:endParaRPr lang="en-US" sz="1000" dirty="0"/>
          </a:p>
        </p:txBody>
      </p:sp>
      <p:sp>
        <p:nvSpPr>
          <p:cNvPr id="15" name="Shape 13"/>
          <p:cNvSpPr/>
          <p:nvPr/>
        </p:nvSpPr>
        <p:spPr>
          <a:xfrm>
            <a:off x="6013552" y="2121408"/>
            <a:ext cx="164592" cy="137160"/>
          </a:xfrm>
          <a:prstGeom prst="downArrow">
            <a:avLst/>
          </a:prstGeom>
          <a:solidFill>
            <a:srgbClr val="9FAFBE"/>
          </a:solidFill>
          <a:ln w="12700">
            <a:solidFill>
              <a:srgbClr val="9FAFBE"/>
            </a:solidFill>
            <a:prstDash val="solid"/>
          </a:ln>
        </p:spPr>
      </p:sp>
      <p:sp>
        <p:nvSpPr>
          <p:cNvPr id="16" name="Text 14"/>
          <p:cNvSpPr txBox="1"/>
          <p:nvPr/>
        </p:nvSpPr>
        <p:spPr>
          <a:xfrm>
            <a:off x="640080" y="2322576"/>
            <a:ext cx="91440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2   HAZARD ADAPTER LAYER   —   signal → score → exposure join → impact → action policy</a:t>
            </a:r>
            <a:endParaRPr lang="en-US" sz="950" dirty="0"/>
          </a:p>
        </p:txBody>
      </p:sp>
      <p:sp>
        <p:nvSpPr>
          <p:cNvPr id="17" name="Shape 15"/>
          <p:cNvSpPr/>
          <p:nvPr/>
        </p:nvSpPr>
        <p:spPr>
          <a:xfrm>
            <a:off x="640080" y="2523744"/>
            <a:ext cx="10911535" cy="694944"/>
          </a:xfrm>
          <a:prstGeom prst="rect">
            <a:avLst/>
          </a:prstGeom>
          <a:solidFill>
            <a:srgbClr val="F3F6F9"/>
          </a:solidFill>
          <a:ln w="9525">
            <a:solidFill>
              <a:srgbClr val="CFD8E1"/>
            </a:solidFill>
            <a:prstDash val="solid"/>
          </a:ln>
        </p:spPr>
      </p:sp>
      <p:sp>
        <p:nvSpPr>
          <p:cNvPr id="18" name="Shape 16"/>
          <p:cNvSpPr/>
          <p:nvPr/>
        </p:nvSpPr>
        <p:spPr>
          <a:xfrm>
            <a:off x="777240" y="2596896"/>
            <a:ext cx="2010400" cy="530352"/>
          </a:xfrm>
          <a:prstGeom prst="roundRect">
            <a:avLst>
              <a:gd name="adj" fmla="val 10345"/>
            </a:avLst>
          </a:prstGeom>
          <a:solidFill>
            <a:srgbClr val="FFFFFF"/>
          </a:solidFill>
          <a:ln w="19050">
            <a:solidFill>
              <a:srgbClr val="11253C"/>
            </a:solidFill>
            <a:prstDash val="solid"/>
          </a:ln>
        </p:spPr>
      </p:sp>
      <p:sp>
        <p:nvSpPr>
          <p:cNvPr id="19" name="Shape 17"/>
          <p:cNvSpPr/>
          <p:nvPr/>
        </p:nvSpPr>
        <p:spPr>
          <a:xfrm>
            <a:off x="923544" y="2724912"/>
            <a:ext cx="118872" cy="118872"/>
          </a:xfrm>
          <a:prstGeom prst="ellipse">
            <a:avLst/>
          </a:prstGeom>
          <a:solidFill>
            <a:srgbClr val="2E7D8F"/>
          </a:solidFill>
          <a:ln w="12700">
            <a:solidFill>
              <a:srgbClr val="2E7D8F"/>
            </a:solidFill>
            <a:prstDash val="solid"/>
          </a:ln>
        </p:spPr>
      </p:sp>
      <p:sp>
        <p:nvSpPr>
          <p:cNvPr id="20" name="Text 18"/>
          <p:cNvSpPr txBox="1"/>
          <p:nvPr/>
        </p:nvSpPr>
        <p:spPr>
          <a:xfrm>
            <a:off x="1106424"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Flood</a:t>
            </a:r>
            <a:endParaRPr lang="en-US" sz="1150" dirty="0"/>
          </a:p>
        </p:txBody>
      </p:sp>
      <p:sp>
        <p:nvSpPr>
          <p:cNvPr id="21" name="Text 19"/>
          <p:cNvSpPr txBox="1"/>
          <p:nvPr/>
        </p:nvSpPr>
        <p:spPr>
          <a:xfrm>
            <a:off x="1106424" y="2852928"/>
            <a:ext cx="1608064" cy="201168"/>
          </a:xfrm>
          <a:prstGeom prst="rect">
            <a:avLst/>
          </a:prstGeom>
          <a:noFill/>
          <a:ln/>
        </p:spPr>
        <p:txBody>
          <a:bodyPr wrap="square" lIns="0" tIns="0" rIns="0" bIns="0" rtlCol="0" anchor="ctr"/>
          <a:lstStyle/>
          <a:p>
            <a:pPr marL="0" indent="0">
              <a:buNone/>
            </a:pPr>
            <a:r>
              <a:rPr lang="en-US" sz="800" b="1" kern="0" spc="40" dirty="0">
                <a:solidFill>
                  <a:srgbClr val="B23A24"/>
                </a:solidFill>
                <a:latin typeface="Calibri" pitchFamily="34" charset="0"/>
                <a:ea typeface="Calibri" pitchFamily="34" charset="-122"/>
                <a:cs typeface="Calibri" pitchFamily="34" charset="-120"/>
              </a:rPr>
              <a:t>LIVE — trained, running</a:t>
            </a:r>
            <a:endParaRPr lang="en-US" sz="800" dirty="0"/>
          </a:p>
        </p:txBody>
      </p:sp>
      <p:sp>
        <p:nvSpPr>
          <p:cNvPr id="22" name="Shape 20"/>
          <p:cNvSpPr/>
          <p:nvPr/>
        </p:nvSpPr>
        <p:spPr>
          <a:xfrm>
            <a:off x="2933944" y="2596896"/>
            <a:ext cx="2010400" cy="530352"/>
          </a:xfrm>
          <a:prstGeom prst="roundRect">
            <a:avLst>
              <a:gd name="adj" fmla="val 10345"/>
            </a:avLst>
          </a:prstGeom>
          <a:solidFill>
            <a:srgbClr val="FFFFFF"/>
          </a:solidFill>
          <a:ln w="19050">
            <a:solidFill>
              <a:srgbClr val="11253C"/>
            </a:solidFill>
            <a:prstDash val="solid"/>
          </a:ln>
        </p:spPr>
      </p:sp>
      <p:sp>
        <p:nvSpPr>
          <p:cNvPr id="23" name="Shape 21"/>
          <p:cNvSpPr/>
          <p:nvPr/>
        </p:nvSpPr>
        <p:spPr>
          <a:xfrm>
            <a:off x="3080248" y="2724912"/>
            <a:ext cx="118872" cy="118872"/>
          </a:xfrm>
          <a:prstGeom prst="ellipse">
            <a:avLst/>
          </a:prstGeom>
          <a:solidFill>
            <a:srgbClr val="B23A24"/>
          </a:solidFill>
          <a:ln w="12700">
            <a:solidFill>
              <a:srgbClr val="B23A24"/>
            </a:solidFill>
            <a:prstDash val="solid"/>
          </a:ln>
        </p:spPr>
      </p:sp>
      <p:sp>
        <p:nvSpPr>
          <p:cNvPr id="24" name="Text 22"/>
          <p:cNvSpPr txBox="1"/>
          <p:nvPr/>
        </p:nvSpPr>
        <p:spPr>
          <a:xfrm>
            <a:off x="3263128"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Heatwave</a:t>
            </a:r>
            <a:endParaRPr lang="en-US" sz="1150" dirty="0"/>
          </a:p>
        </p:txBody>
      </p:sp>
      <p:sp>
        <p:nvSpPr>
          <p:cNvPr id="25" name="Text 23"/>
          <p:cNvSpPr txBox="1"/>
          <p:nvPr/>
        </p:nvSpPr>
        <p:spPr>
          <a:xfrm>
            <a:off x="3263128" y="2852928"/>
            <a:ext cx="1608064" cy="201168"/>
          </a:xfrm>
          <a:prstGeom prst="rect">
            <a:avLst/>
          </a:prstGeom>
          <a:noFill/>
          <a:ln/>
        </p:spPr>
        <p:txBody>
          <a:bodyPr wrap="square" lIns="0" tIns="0" rIns="0" bIns="0" rtlCol="0" anchor="ctr"/>
          <a:lstStyle/>
          <a:p>
            <a:pPr marL="0" indent="0">
              <a:buNone/>
            </a:pPr>
            <a:r>
              <a:rPr lang="en-US" sz="800" b="1" kern="0" spc="40" dirty="0">
                <a:solidFill>
                  <a:srgbClr val="B23A24"/>
                </a:solidFill>
                <a:latin typeface="Calibri" pitchFamily="34" charset="0"/>
                <a:ea typeface="Calibri" pitchFamily="34" charset="-122"/>
                <a:cs typeface="Calibri" pitchFamily="34" charset="-120"/>
              </a:rPr>
              <a:t>LIVE — trained, running</a:t>
            </a:r>
            <a:endParaRPr lang="en-US" sz="800" dirty="0"/>
          </a:p>
        </p:txBody>
      </p:sp>
      <p:sp>
        <p:nvSpPr>
          <p:cNvPr id="26" name="Shape 24"/>
          <p:cNvSpPr/>
          <p:nvPr/>
        </p:nvSpPr>
        <p:spPr>
          <a:xfrm>
            <a:off x="5090648" y="2596896"/>
            <a:ext cx="2010400" cy="530352"/>
          </a:xfrm>
          <a:prstGeom prst="roundRect">
            <a:avLst>
              <a:gd name="adj" fmla="val 10345"/>
            </a:avLst>
          </a:prstGeom>
          <a:solidFill>
            <a:srgbClr val="FFFFFF"/>
          </a:solidFill>
          <a:ln w="9525">
            <a:solidFill>
              <a:srgbClr val="CFD8E1"/>
            </a:solidFill>
            <a:prstDash val="solid"/>
          </a:ln>
        </p:spPr>
      </p:sp>
      <p:sp>
        <p:nvSpPr>
          <p:cNvPr id="27" name="Shape 25"/>
          <p:cNvSpPr/>
          <p:nvPr/>
        </p:nvSpPr>
        <p:spPr>
          <a:xfrm>
            <a:off x="5236952" y="2724912"/>
            <a:ext cx="118872" cy="118872"/>
          </a:xfrm>
          <a:prstGeom prst="ellipse">
            <a:avLst/>
          </a:prstGeom>
          <a:solidFill>
            <a:srgbClr val="6E5596"/>
          </a:solidFill>
          <a:ln w="12700">
            <a:solidFill>
              <a:srgbClr val="6E5596"/>
            </a:solidFill>
            <a:prstDash val="solid"/>
          </a:ln>
        </p:spPr>
      </p:sp>
      <p:sp>
        <p:nvSpPr>
          <p:cNvPr id="28" name="Text 26"/>
          <p:cNvSpPr txBox="1"/>
          <p:nvPr/>
        </p:nvSpPr>
        <p:spPr>
          <a:xfrm>
            <a:off x="5419832"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Air Quality</a:t>
            </a:r>
            <a:endParaRPr lang="en-US" sz="1150" dirty="0"/>
          </a:p>
        </p:txBody>
      </p:sp>
      <p:sp>
        <p:nvSpPr>
          <p:cNvPr id="29" name="Text 27"/>
          <p:cNvSpPr txBox="1"/>
          <p:nvPr/>
        </p:nvSpPr>
        <p:spPr>
          <a:xfrm>
            <a:off x="5419832"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0" name="Shape 28"/>
          <p:cNvSpPr/>
          <p:nvPr/>
        </p:nvSpPr>
        <p:spPr>
          <a:xfrm>
            <a:off x="7247352" y="2596896"/>
            <a:ext cx="2010400" cy="530352"/>
          </a:xfrm>
          <a:prstGeom prst="roundRect">
            <a:avLst>
              <a:gd name="adj" fmla="val 10345"/>
            </a:avLst>
          </a:prstGeom>
          <a:solidFill>
            <a:srgbClr val="FFFFFF"/>
          </a:solidFill>
          <a:ln w="9525">
            <a:solidFill>
              <a:srgbClr val="CFD8E1"/>
            </a:solidFill>
            <a:prstDash val="solid"/>
          </a:ln>
        </p:spPr>
      </p:sp>
      <p:sp>
        <p:nvSpPr>
          <p:cNvPr id="31" name="Shape 29"/>
          <p:cNvSpPr/>
          <p:nvPr/>
        </p:nvSpPr>
        <p:spPr>
          <a:xfrm>
            <a:off x="7393656" y="2724912"/>
            <a:ext cx="118872" cy="118872"/>
          </a:xfrm>
          <a:prstGeom prst="ellipse">
            <a:avLst/>
          </a:prstGeom>
          <a:solidFill>
            <a:srgbClr val="C97A20"/>
          </a:solidFill>
          <a:ln w="12700">
            <a:solidFill>
              <a:srgbClr val="C97A20"/>
            </a:solidFill>
            <a:prstDash val="solid"/>
          </a:ln>
        </p:spPr>
      </p:sp>
      <p:sp>
        <p:nvSpPr>
          <p:cNvPr id="32" name="Text 30"/>
          <p:cNvSpPr txBox="1"/>
          <p:nvPr/>
        </p:nvSpPr>
        <p:spPr>
          <a:xfrm>
            <a:off x="7576536"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Wildfire</a:t>
            </a:r>
            <a:endParaRPr lang="en-US" sz="1150" dirty="0"/>
          </a:p>
        </p:txBody>
      </p:sp>
      <p:sp>
        <p:nvSpPr>
          <p:cNvPr id="33" name="Text 31"/>
          <p:cNvSpPr txBox="1"/>
          <p:nvPr/>
        </p:nvSpPr>
        <p:spPr>
          <a:xfrm>
            <a:off x="7576536"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4" name="Shape 32"/>
          <p:cNvSpPr/>
          <p:nvPr/>
        </p:nvSpPr>
        <p:spPr>
          <a:xfrm>
            <a:off x="9404055" y="2596896"/>
            <a:ext cx="2010400" cy="530352"/>
          </a:xfrm>
          <a:prstGeom prst="roundRect">
            <a:avLst>
              <a:gd name="adj" fmla="val 10345"/>
            </a:avLst>
          </a:prstGeom>
          <a:solidFill>
            <a:srgbClr val="FFFFFF"/>
          </a:solidFill>
          <a:ln w="9525">
            <a:solidFill>
              <a:srgbClr val="CFD8E1"/>
            </a:solidFill>
            <a:prstDash val="solid"/>
          </a:ln>
        </p:spPr>
      </p:sp>
      <p:sp>
        <p:nvSpPr>
          <p:cNvPr id="35" name="Shape 33"/>
          <p:cNvSpPr/>
          <p:nvPr/>
        </p:nvSpPr>
        <p:spPr>
          <a:xfrm>
            <a:off x="9550359" y="2724912"/>
            <a:ext cx="118872" cy="118872"/>
          </a:xfrm>
          <a:prstGeom prst="ellipse">
            <a:avLst/>
          </a:prstGeom>
          <a:solidFill>
            <a:srgbClr val="4E6B41"/>
          </a:solidFill>
          <a:ln w="12700">
            <a:solidFill>
              <a:srgbClr val="4E6B41"/>
            </a:solidFill>
            <a:prstDash val="solid"/>
          </a:ln>
        </p:spPr>
      </p:sp>
      <p:sp>
        <p:nvSpPr>
          <p:cNvPr id="36" name="Text 34"/>
          <p:cNvSpPr txBox="1"/>
          <p:nvPr/>
        </p:nvSpPr>
        <p:spPr>
          <a:xfrm>
            <a:off x="9733239" y="2633472"/>
            <a:ext cx="160806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Seismic</a:t>
            </a:r>
            <a:endParaRPr lang="en-US" sz="1150" dirty="0"/>
          </a:p>
        </p:txBody>
      </p:sp>
      <p:sp>
        <p:nvSpPr>
          <p:cNvPr id="37" name="Text 35"/>
          <p:cNvSpPr txBox="1"/>
          <p:nvPr/>
        </p:nvSpPr>
        <p:spPr>
          <a:xfrm>
            <a:off x="9733239" y="2852928"/>
            <a:ext cx="1608064" cy="201168"/>
          </a:xfrm>
          <a:prstGeom prst="rect">
            <a:avLst/>
          </a:prstGeom>
          <a:noFill/>
          <a:ln/>
        </p:spPr>
        <p:txBody>
          <a:bodyPr wrap="square" lIns="0" tIns="0" rIns="0" bIns="0" rtlCol="0" anchor="ctr"/>
          <a:lstStyle/>
          <a:p>
            <a:pPr marL="0" indent="0">
              <a:buNone/>
            </a:pPr>
            <a:r>
              <a:rPr lang="en-US" sz="800" kern="0" spc="40" dirty="0">
                <a:solidFill>
                  <a:srgbClr val="6E8194"/>
                </a:solidFill>
                <a:latin typeface="Calibri" pitchFamily="34" charset="0"/>
                <a:ea typeface="Calibri" pitchFamily="34" charset="-122"/>
                <a:cs typeface="Calibri" pitchFamily="34" charset="-120"/>
              </a:rPr>
              <a:t>REGISTERED — same interface</a:t>
            </a:r>
            <a:endParaRPr lang="en-US" sz="800" dirty="0"/>
          </a:p>
        </p:txBody>
      </p:sp>
      <p:sp>
        <p:nvSpPr>
          <p:cNvPr id="38" name="Shape 36"/>
          <p:cNvSpPr/>
          <p:nvPr/>
        </p:nvSpPr>
        <p:spPr>
          <a:xfrm>
            <a:off x="6013552" y="3273552"/>
            <a:ext cx="164592" cy="137160"/>
          </a:xfrm>
          <a:prstGeom prst="downArrow">
            <a:avLst/>
          </a:prstGeom>
          <a:solidFill>
            <a:srgbClr val="9FAFBE"/>
          </a:solidFill>
          <a:ln w="12700">
            <a:solidFill>
              <a:srgbClr val="9FAFBE"/>
            </a:solidFill>
            <a:prstDash val="solid"/>
          </a:ln>
        </p:spPr>
      </p:sp>
      <p:sp>
        <p:nvSpPr>
          <p:cNvPr id="39" name="Text 37"/>
          <p:cNvSpPr txBox="1"/>
          <p:nvPr/>
        </p:nvSpPr>
        <p:spPr>
          <a:xfrm>
            <a:off x="640080" y="3438144"/>
            <a:ext cx="8686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3   AGENT ORCHESTRATOR   —   LangGraph state machine over LangChain tools</a:t>
            </a:r>
            <a:endParaRPr lang="en-US" sz="950" dirty="0"/>
          </a:p>
        </p:txBody>
      </p:sp>
      <p:sp>
        <p:nvSpPr>
          <p:cNvPr id="40" name="Shape 38"/>
          <p:cNvSpPr/>
          <p:nvPr/>
        </p:nvSpPr>
        <p:spPr>
          <a:xfrm>
            <a:off x="640080" y="3657600"/>
            <a:ext cx="10911535" cy="786384"/>
          </a:xfrm>
          <a:prstGeom prst="rect">
            <a:avLst/>
          </a:prstGeom>
          <a:solidFill>
            <a:srgbClr val="E8EEF3"/>
          </a:solidFill>
          <a:ln w="15875">
            <a:solidFill>
              <a:srgbClr val="9FAFBE"/>
            </a:solidFill>
            <a:prstDash val="solid"/>
          </a:ln>
        </p:spPr>
      </p:sp>
      <p:sp>
        <p:nvSpPr>
          <p:cNvPr id="41" name="Shape 39"/>
          <p:cNvSpPr/>
          <p:nvPr/>
        </p:nvSpPr>
        <p:spPr>
          <a:xfrm>
            <a:off x="777240" y="3758184"/>
            <a:ext cx="2549576" cy="585216"/>
          </a:xfrm>
          <a:prstGeom prst="roundRect">
            <a:avLst>
              <a:gd name="adj" fmla="val 9375"/>
            </a:avLst>
          </a:prstGeom>
          <a:solidFill>
            <a:srgbClr val="FFFFFF"/>
          </a:solidFill>
          <a:ln w="9525">
            <a:solidFill>
              <a:srgbClr val="9FAFBE"/>
            </a:solidFill>
            <a:prstDash val="solid"/>
          </a:ln>
        </p:spPr>
      </p:sp>
      <p:sp>
        <p:nvSpPr>
          <p:cNvPr id="42" name="Text 40"/>
          <p:cNvSpPr txBox="1"/>
          <p:nvPr/>
        </p:nvSpPr>
        <p:spPr>
          <a:xfrm>
            <a:off x="90525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Hazard Analyst</a:t>
            </a:r>
            <a:endParaRPr lang="en-US" sz="1150" dirty="0"/>
          </a:p>
        </p:txBody>
      </p:sp>
      <p:sp>
        <p:nvSpPr>
          <p:cNvPr id="43" name="Text 41"/>
          <p:cNvSpPr txBox="1"/>
          <p:nvPr/>
        </p:nvSpPr>
        <p:spPr>
          <a:xfrm>
            <a:off x="90525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ML risk score per cell</a:t>
            </a:r>
            <a:endParaRPr lang="en-US" sz="950" dirty="0"/>
          </a:p>
        </p:txBody>
      </p:sp>
      <p:sp>
        <p:nvSpPr>
          <p:cNvPr id="44" name="Shape 42"/>
          <p:cNvSpPr/>
          <p:nvPr/>
        </p:nvSpPr>
        <p:spPr>
          <a:xfrm>
            <a:off x="3473120" y="3758184"/>
            <a:ext cx="2549576" cy="585216"/>
          </a:xfrm>
          <a:prstGeom prst="roundRect">
            <a:avLst>
              <a:gd name="adj" fmla="val 9375"/>
            </a:avLst>
          </a:prstGeom>
          <a:solidFill>
            <a:srgbClr val="FFFFFF"/>
          </a:solidFill>
          <a:ln w="9525">
            <a:solidFill>
              <a:srgbClr val="9FAFBE"/>
            </a:solidFill>
            <a:prstDash val="solid"/>
          </a:ln>
        </p:spPr>
      </p:sp>
      <p:sp>
        <p:nvSpPr>
          <p:cNvPr id="45" name="Text 43"/>
          <p:cNvSpPr txBox="1"/>
          <p:nvPr/>
        </p:nvSpPr>
        <p:spPr>
          <a:xfrm>
            <a:off x="360113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Impact &amp; Exposure</a:t>
            </a:r>
            <a:endParaRPr lang="en-US" sz="1150" dirty="0"/>
          </a:p>
        </p:txBody>
      </p:sp>
      <p:sp>
        <p:nvSpPr>
          <p:cNvPr id="46" name="Text 44"/>
          <p:cNvSpPr txBox="1"/>
          <p:nvPr/>
        </p:nvSpPr>
        <p:spPr>
          <a:xfrm>
            <a:off x="360113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people, roads, lifelines</a:t>
            </a:r>
            <a:endParaRPr lang="en-US" sz="950" dirty="0"/>
          </a:p>
        </p:txBody>
      </p:sp>
      <p:sp>
        <p:nvSpPr>
          <p:cNvPr id="47" name="Shape 45"/>
          <p:cNvSpPr/>
          <p:nvPr/>
        </p:nvSpPr>
        <p:spPr>
          <a:xfrm>
            <a:off x="6169000" y="3758184"/>
            <a:ext cx="2549576" cy="585216"/>
          </a:xfrm>
          <a:prstGeom prst="roundRect">
            <a:avLst>
              <a:gd name="adj" fmla="val 9375"/>
            </a:avLst>
          </a:prstGeom>
          <a:solidFill>
            <a:srgbClr val="FFFFFF"/>
          </a:solidFill>
          <a:ln w="9525">
            <a:solidFill>
              <a:srgbClr val="9FAFBE"/>
            </a:solidFill>
            <a:prstDash val="solid"/>
          </a:ln>
        </p:spPr>
      </p:sp>
      <p:sp>
        <p:nvSpPr>
          <p:cNvPr id="48" name="Text 46"/>
          <p:cNvSpPr txBox="1"/>
          <p:nvPr/>
        </p:nvSpPr>
        <p:spPr>
          <a:xfrm>
            <a:off x="6297016"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Allocation Planner</a:t>
            </a:r>
            <a:endParaRPr lang="en-US" sz="1150" dirty="0"/>
          </a:p>
        </p:txBody>
      </p:sp>
      <p:sp>
        <p:nvSpPr>
          <p:cNvPr id="49" name="Text 47"/>
          <p:cNvSpPr txBox="1"/>
          <p:nvPr/>
        </p:nvSpPr>
        <p:spPr>
          <a:xfrm>
            <a:off x="6297016"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OR-Tools CP-SAT + OSRM</a:t>
            </a:r>
            <a:endParaRPr lang="en-US" sz="950" dirty="0"/>
          </a:p>
        </p:txBody>
      </p:sp>
      <p:sp>
        <p:nvSpPr>
          <p:cNvPr id="50" name="Shape 48"/>
          <p:cNvSpPr/>
          <p:nvPr/>
        </p:nvSpPr>
        <p:spPr>
          <a:xfrm>
            <a:off x="8864879" y="3758184"/>
            <a:ext cx="2549576" cy="585216"/>
          </a:xfrm>
          <a:prstGeom prst="roundRect">
            <a:avLst>
              <a:gd name="adj" fmla="val 9375"/>
            </a:avLst>
          </a:prstGeom>
          <a:solidFill>
            <a:srgbClr val="FFFFFF"/>
          </a:solidFill>
          <a:ln w="9525">
            <a:solidFill>
              <a:srgbClr val="9FAFBE"/>
            </a:solidFill>
            <a:prstDash val="solid"/>
          </a:ln>
        </p:spPr>
      </p:sp>
      <p:sp>
        <p:nvSpPr>
          <p:cNvPr id="51" name="Text 49"/>
          <p:cNvSpPr txBox="1"/>
          <p:nvPr/>
        </p:nvSpPr>
        <p:spPr>
          <a:xfrm>
            <a:off x="8992895" y="3794760"/>
            <a:ext cx="2293544" cy="219456"/>
          </a:xfrm>
          <a:prstGeom prst="rect">
            <a:avLst/>
          </a:prstGeom>
          <a:noFill/>
          <a:ln/>
        </p:spPr>
        <p:txBody>
          <a:bodyPr wrap="square" lIns="0" tIns="0" rIns="0" bIns="0" rtlCol="0" anchor="ctr"/>
          <a:lstStyle/>
          <a:p>
            <a:pPr marL="0" indent="0">
              <a:buNone/>
            </a:pPr>
            <a:r>
              <a:rPr lang="en-US" sz="1150" b="1" dirty="0">
                <a:solidFill>
                  <a:srgbClr val="11253C"/>
                </a:solidFill>
                <a:latin typeface="Calibri" pitchFamily="34" charset="0"/>
                <a:ea typeface="Calibri" pitchFamily="34" charset="-122"/>
                <a:cs typeface="Calibri" pitchFamily="34" charset="-120"/>
              </a:rPr>
              <a:t>Guidance Agent</a:t>
            </a:r>
            <a:endParaRPr lang="en-US" sz="1150" dirty="0"/>
          </a:p>
        </p:txBody>
      </p:sp>
      <p:sp>
        <p:nvSpPr>
          <p:cNvPr id="52" name="Text 50"/>
          <p:cNvSpPr txBox="1"/>
          <p:nvPr/>
        </p:nvSpPr>
        <p:spPr>
          <a:xfrm>
            <a:off x="8992895" y="4014216"/>
            <a:ext cx="229354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route, language, voice</a:t>
            </a:r>
            <a:endParaRPr lang="en-US" sz="950" dirty="0"/>
          </a:p>
        </p:txBody>
      </p:sp>
      <p:sp>
        <p:nvSpPr>
          <p:cNvPr id="53" name="Shape 51"/>
          <p:cNvSpPr/>
          <p:nvPr/>
        </p:nvSpPr>
        <p:spPr>
          <a:xfrm>
            <a:off x="6013552" y="4498848"/>
            <a:ext cx="164592" cy="137160"/>
          </a:xfrm>
          <a:prstGeom prst="downArrow">
            <a:avLst/>
          </a:prstGeom>
          <a:solidFill>
            <a:srgbClr val="9FAFBE"/>
          </a:solidFill>
          <a:ln w="12700">
            <a:solidFill>
              <a:srgbClr val="9FAFBE"/>
            </a:solidFill>
            <a:prstDash val="solid"/>
          </a:ln>
        </p:spPr>
      </p:sp>
      <p:sp>
        <p:nvSpPr>
          <p:cNvPr id="54" name="Text 52"/>
          <p:cNvSpPr txBox="1"/>
          <p:nvPr/>
        </p:nvSpPr>
        <p:spPr>
          <a:xfrm>
            <a:off x="640080" y="4700016"/>
            <a:ext cx="64008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4   POLICY-GROUNDED HUMAN-IN-THE-LOOP GATE</a:t>
            </a:r>
            <a:endParaRPr lang="en-US" sz="950" dirty="0"/>
          </a:p>
        </p:txBody>
      </p:sp>
      <p:sp>
        <p:nvSpPr>
          <p:cNvPr id="55" name="Shape 53"/>
          <p:cNvSpPr/>
          <p:nvPr/>
        </p:nvSpPr>
        <p:spPr>
          <a:xfrm>
            <a:off x="640080" y="4919472"/>
            <a:ext cx="3931920" cy="566928"/>
          </a:xfrm>
          <a:prstGeom prst="rect">
            <a:avLst/>
          </a:prstGeom>
          <a:solidFill>
            <a:srgbClr val="FFFFFF"/>
          </a:solidFill>
          <a:ln w="9525">
            <a:solidFill>
              <a:srgbClr val="CFD8E1"/>
            </a:solidFill>
            <a:prstDash val="solid"/>
          </a:ln>
        </p:spPr>
      </p:sp>
      <p:sp>
        <p:nvSpPr>
          <p:cNvPr id="56" name="Text 54"/>
          <p:cNvSpPr txBox="1"/>
          <p:nvPr/>
        </p:nvSpPr>
        <p:spPr>
          <a:xfrm>
            <a:off x="804672" y="4919472"/>
            <a:ext cx="3602736" cy="566928"/>
          </a:xfrm>
          <a:prstGeom prst="rect">
            <a:avLst/>
          </a:prstGeom>
          <a:noFill/>
          <a:ln/>
        </p:spPr>
        <p:txBody>
          <a:bodyPr wrap="square" lIns="0" tIns="0" rIns="0" bIns="0" rtlCol="0" anchor="ctr"/>
          <a:lstStyle/>
          <a:p>
            <a:pPr marL="0" indent="0">
              <a:lnSpc>
                <a:spcPts val="1400"/>
              </a:lnSpc>
              <a:buNone/>
            </a:pPr>
            <a:r>
              <a:rPr lang="en-US" sz="1050" b="1" dirty="0">
                <a:solidFill>
                  <a:srgbClr val="11253C"/>
                </a:solidFill>
                <a:latin typeface="Calibri" pitchFamily="34" charset="0"/>
                <a:ea typeface="Calibri" pitchFamily="34" charset="-122"/>
                <a:cs typeface="Calibri" pitchFamily="34" charset="-120"/>
              </a:rPr>
              <a:t>Policy &amp; SOP knowledge base  </a:t>
            </a:r>
            <a:endParaRPr lang="en-US" sz="1050" dirty="0"/>
          </a:p>
          <a:p>
            <a:pPr marL="0" indent="0">
              <a:lnSpc>
                <a:spcPts val="1400"/>
              </a:lnSpc>
              <a:buNone/>
            </a:pPr>
            <a:r>
              <a:rPr lang="en-US" sz="1050" dirty="0">
                <a:solidFill>
                  <a:srgbClr val="3D5468"/>
                </a:solidFill>
                <a:latin typeface="Calibri" pitchFamily="34" charset="0"/>
                <a:ea typeface="Calibri" pitchFamily="34" charset="-122"/>
                <a:cs typeface="Calibri" pitchFamily="34" charset="-120"/>
              </a:rPr>
              <a:t>NDMA SOPs · municipal DM plan · delegation matrix (RAG)</a:t>
            </a:r>
            <a:endParaRPr lang="en-US" sz="1050" dirty="0"/>
          </a:p>
        </p:txBody>
      </p:sp>
      <p:sp>
        <p:nvSpPr>
          <p:cNvPr id="57" name="Shape 55"/>
          <p:cNvSpPr/>
          <p:nvPr/>
        </p:nvSpPr>
        <p:spPr>
          <a:xfrm>
            <a:off x="4754880" y="4919472"/>
            <a:ext cx="6796735" cy="566928"/>
          </a:xfrm>
          <a:prstGeom prst="rect">
            <a:avLst/>
          </a:prstGeom>
          <a:solidFill>
            <a:srgbClr val="F3F6F9"/>
          </a:solidFill>
          <a:ln w="9525">
            <a:solidFill>
              <a:srgbClr val="CFD8E1"/>
            </a:solidFill>
            <a:prstDash val="solid"/>
          </a:ln>
        </p:spPr>
      </p:sp>
      <p:sp>
        <p:nvSpPr>
          <p:cNvPr id="58" name="Text 56"/>
          <p:cNvSpPr txBox="1"/>
          <p:nvPr/>
        </p:nvSpPr>
        <p:spPr>
          <a:xfrm>
            <a:off x="4919472" y="4919472"/>
            <a:ext cx="6467551" cy="566928"/>
          </a:xfrm>
          <a:prstGeom prst="rect">
            <a:avLst/>
          </a:prstGeom>
          <a:noFill/>
          <a:ln/>
        </p:spPr>
        <p:txBody>
          <a:bodyPr wrap="square" lIns="0" tIns="0" rIns="0" bIns="0" rtlCol="0" anchor="ctr"/>
          <a:lstStyle/>
          <a:p>
            <a:pPr marL="0" indent="0">
              <a:lnSpc>
                <a:spcPts val="1400"/>
              </a:lnSpc>
              <a:buNone/>
            </a:pPr>
            <a:r>
              <a:rPr lang="en-US" sz="1050" b="1" dirty="0">
                <a:solidFill>
                  <a:srgbClr val="11253C"/>
                </a:solidFill>
                <a:latin typeface="Calibri" pitchFamily="34" charset="0"/>
                <a:ea typeface="Calibri" pitchFamily="34" charset="-122"/>
                <a:cs typeface="Calibri" pitchFamily="34" charset="-120"/>
              </a:rPr>
              <a:t>Within cited authority → auto-issue</a:t>
            </a:r>
            <a:endParaRPr lang="en-US" sz="1050" dirty="0"/>
          </a:p>
          <a:p>
            <a:pPr marL="0" indent="0">
              <a:lnSpc>
                <a:spcPts val="1400"/>
              </a:lnSpc>
              <a:buNone/>
            </a:pPr>
            <a:r>
              <a:rPr lang="en-US" sz="1050" b="1" dirty="0">
                <a:solidFill>
                  <a:srgbClr val="B23A24"/>
                </a:solidFill>
                <a:latin typeface="Calibri" pitchFamily="34" charset="0"/>
                <a:ea typeface="Calibri" pitchFamily="34" charset="-122"/>
                <a:cs typeface="Calibri" pitchFamily="34" charset="-120"/>
              </a:rPr>
              <a:t>Outside authority or low confidence → officer approval, with the clause shown</a:t>
            </a:r>
            <a:endParaRPr lang="en-US" sz="1050" dirty="0"/>
          </a:p>
        </p:txBody>
      </p:sp>
      <p:sp>
        <p:nvSpPr>
          <p:cNvPr id="59" name="Shape 57"/>
          <p:cNvSpPr/>
          <p:nvPr/>
        </p:nvSpPr>
        <p:spPr>
          <a:xfrm>
            <a:off x="6013552" y="5541264"/>
            <a:ext cx="164592" cy="137160"/>
          </a:xfrm>
          <a:prstGeom prst="downArrow">
            <a:avLst/>
          </a:prstGeom>
          <a:solidFill>
            <a:srgbClr val="9FAFBE"/>
          </a:solidFill>
          <a:ln w="12700">
            <a:solidFill>
              <a:srgbClr val="9FAFBE"/>
            </a:solidFill>
            <a:prstDash val="solid"/>
          </a:ln>
        </p:spPr>
      </p:sp>
      <p:sp>
        <p:nvSpPr>
          <p:cNvPr id="60" name="Text 58"/>
          <p:cNvSpPr txBox="1"/>
          <p:nvPr/>
        </p:nvSpPr>
        <p:spPr>
          <a:xfrm>
            <a:off x="640080" y="5742432"/>
            <a:ext cx="3657600" cy="201168"/>
          </a:xfrm>
          <a:prstGeom prst="rect">
            <a:avLst/>
          </a:prstGeom>
          <a:noFill/>
          <a:ln/>
        </p:spPr>
        <p:txBody>
          <a:bodyPr wrap="square" lIns="0" tIns="0" rIns="0" bIns="0" rtlCol="0" anchor="ctr"/>
          <a:lstStyle/>
          <a:p>
            <a:pPr marL="0" indent="0">
              <a:buNone/>
            </a:pPr>
            <a:r>
              <a:rPr lang="en-US" sz="950" b="1" kern="0" spc="140" dirty="0">
                <a:solidFill>
                  <a:srgbClr val="6E8194"/>
                </a:solidFill>
                <a:latin typeface="Calibri" pitchFamily="34" charset="0"/>
                <a:ea typeface="Calibri" pitchFamily="34" charset="-122"/>
                <a:cs typeface="Calibri" pitchFamily="34" charset="-120"/>
              </a:rPr>
              <a:t>5   THREE INTERFACES</a:t>
            </a:r>
            <a:endParaRPr lang="en-US" sz="950" dirty="0"/>
          </a:p>
        </p:txBody>
      </p:sp>
      <p:sp>
        <p:nvSpPr>
          <p:cNvPr id="61" name="Shape 59"/>
          <p:cNvSpPr/>
          <p:nvPr/>
        </p:nvSpPr>
        <p:spPr>
          <a:xfrm>
            <a:off x="640080" y="5961888"/>
            <a:ext cx="3503066" cy="493776"/>
          </a:xfrm>
          <a:prstGeom prst="rect">
            <a:avLst/>
          </a:prstGeom>
          <a:solidFill>
            <a:srgbClr val="FFFFFF"/>
          </a:solidFill>
          <a:ln w="15875">
            <a:solidFill>
              <a:srgbClr val="9FAFBE"/>
            </a:solidFill>
            <a:prstDash val="solid"/>
          </a:ln>
        </p:spPr>
      </p:sp>
      <p:sp>
        <p:nvSpPr>
          <p:cNvPr id="62" name="Text 60"/>
          <p:cNvSpPr txBox="1"/>
          <p:nvPr/>
        </p:nvSpPr>
        <p:spPr>
          <a:xfrm>
            <a:off x="768096"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Citizen Portal</a:t>
            </a:r>
            <a:endParaRPr lang="en-US" sz="1100" dirty="0"/>
          </a:p>
        </p:txBody>
      </p:sp>
      <p:sp>
        <p:nvSpPr>
          <p:cNvPr id="63" name="Text 61"/>
          <p:cNvSpPr txBox="1"/>
          <p:nvPr/>
        </p:nvSpPr>
        <p:spPr>
          <a:xfrm>
            <a:off x="768096"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map, ask-the-agent, proactive guidance, navigation</a:t>
            </a:r>
            <a:endParaRPr lang="en-US" sz="950" dirty="0"/>
          </a:p>
        </p:txBody>
      </p:sp>
      <p:sp>
        <p:nvSpPr>
          <p:cNvPr id="64" name="Shape 62"/>
          <p:cNvSpPr/>
          <p:nvPr/>
        </p:nvSpPr>
        <p:spPr>
          <a:xfrm>
            <a:off x="4344314" y="5961888"/>
            <a:ext cx="3503066" cy="493776"/>
          </a:xfrm>
          <a:prstGeom prst="rect">
            <a:avLst/>
          </a:prstGeom>
          <a:solidFill>
            <a:srgbClr val="FFFFFF"/>
          </a:solidFill>
          <a:ln w="15875">
            <a:solidFill>
              <a:srgbClr val="9FAFBE"/>
            </a:solidFill>
            <a:prstDash val="solid"/>
          </a:ln>
        </p:spPr>
      </p:sp>
      <p:sp>
        <p:nvSpPr>
          <p:cNvPr id="65" name="Text 63"/>
          <p:cNvSpPr txBox="1"/>
          <p:nvPr/>
        </p:nvSpPr>
        <p:spPr>
          <a:xfrm>
            <a:off x="4472330"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Administration Command Console</a:t>
            </a:r>
            <a:endParaRPr lang="en-US" sz="1100" dirty="0"/>
          </a:p>
        </p:txBody>
      </p:sp>
      <p:sp>
        <p:nvSpPr>
          <p:cNvPr id="66" name="Text 64"/>
          <p:cNvSpPr txBox="1"/>
          <p:nvPr/>
        </p:nvSpPr>
        <p:spPr>
          <a:xfrm>
            <a:off x="4472330"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risk board, incident map, allocation planner, agent trace</a:t>
            </a:r>
            <a:endParaRPr lang="en-US" sz="950" dirty="0"/>
          </a:p>
        </p:txBody>
      </p:sp>
      <p:sp>
        <p:nvSpPr>
          <p:cNvPr id="67" name="Shape 65"/>
          <p:cNvSpPr/>
          <p:nvPr/>
        </p:nvSpPr>
        <p:spPr>
          <a:xfrm>
            <a:off x="8048549" y="5961888"/>
            <a:ext cx="3503066" cy="493776"/>
          </a:xfrm>
          <a:prstGeom prst="rect">
            <a:avLst/>
          </a:prstGeom>
          <a:solidFill>
            <a:srgbClr val="FFFFFF"/>
          </a:solidFill>
          <a:ln w="15875">
            <a:solidFill>
              <a:srgbClr val="9FAFBE"/>
            </a:solidFill>
            <a:prstDash val="solid"/>
          </a:ln>
        </p:spPr>
      </p:sp>
      <p:sp>
        <p:nvSpPr>
          <p:cNvPr id="68" name="Text 66"/>
          <p:cNvSpPr txBox="1"/>
          <p:nvPr/>
        </p:nvSpPr>
        <p:spPr>
          <a:xfrm>
            <a:off x="8176565" y="5980176"/>
            <a:ext cx="3247034" cy="219456"/>
          </a:xfrm>
          <a:prstGeom prst="rect">
            <a:avLst/>
          </a:prstGeom>
          <a:noFill/>
          <a:ln/>
        </p:spPr>
        <p:txBody>
          <a:bodyPr wrap="square" lIns="0" tIns="0" rIns="0" bIns="0" rtlCol="0" anchor="ctr"/>
          <a:lstStyle/>
          <a:p>
            <a:pPr marL="0" indent="0">
              <a:buNone/>
            </a:pPr>
            <a:r>
              <a:rPr lang="en-US" sz="1100" b="1" dirty="0">
                <a:solidFill>
                  <a:srgbClr val="11253C"/>
                </a:solidFill>
                <a:latin typeface="Calibri" pitchFamily="34" charset="0"/>
                <a:ea typeface="Calibri" pitchFamily="34" charset="-122"/>
                <a:cs typeface="Calibri" pitchFamily="34" charset="-120"/>
              </a:rPr>
              <a:t>Field &amp; Service Operator Portal</a:t>
            </a:r>
            <a:endParaRPr lang="en-US" sz="1100" dirty="0"/>
          </a:p>
        </p:txBody>
      </p:sp>
      <p:sp>
        <p:nvSpPr>
          <p:cNvPr id="69" name="Text 67"/>
          <p:cNvSpPr txBox="1"/>
          <p:nvPr/>
        </p:nvSpPr>
        <p:spPr>
          <a:xfrm>
            <a:off x="8176565" y="6190488"/>
            <a:ext cx="3247034" cy="219456"/>
          </a:xfrm>
          <a:prstGeom prst="rect">
            <a:avLst/>
          </a:prstGeom>
          <a:noFill/>
          <a:ln/>
        </p:spPr>
        <p:txBody>
          <a:bodyPr wrap="square" lIns="0" tIns="0" rIns="0" bIns="0" rtlCol="0" anchor="ctr"/>
          <a:lstStyle/>
          <a:p>
            <a:pPr marL="0" indent="0">
              <a:buNone/>
            </a:pPr>
            <a:r>
              <a:rPr lang="en-US" sz="950" dirty="0">
                <a:solidFill>
                  <a:srgbClr val="3D5468"/>
                </a:solidFill>
                <a:latin typeface="Calibri" pitchFamily="34" charset="0"/>
                <a:ea typeface="Calibri" pitchFamily="34" charset="-122"/>
                <a:cs typeface="Calibri" pitchFamily="34" charset="-120"/>
              </a:rPr>
              <a:t>transport, fire, ambulance, shelters — accept, work, close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06  ·  INNOVATION</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Unique features / Innovation</a:t>
            </a:r>
            <a:endParaRPr lang="en-US" sz="3300" dirty="0"/>
          </a:p>
        </p:txBody>
      </p:sp>
      <p:sp>
        <p:nvSpPr>
          <p:cNvPr id="4" name="Shape 2"/>
          <p:cNvSpPr/>
          <p:nvPr/>
        </p:nvSpPr>
        <p:spPr>
          <a:xfrm>
            <a:off x="640080" y="1609344"/>
            <a:ext cx="5291176" cy="1572768"/>
          </a:xfrm>
          <a:prstGeom prst="rect">
            <a:avLst/>
          </a:prstGeom>
          <a:solidFill>
            <a:srgbClr val="F3F6F9"/>
          </a:solidFill>
          <a:ln w="9525">
            <a:solidFill>
              <a:srgbClr val="CFD8E1"/>
            </a:solidFill>
            <a:prstDash val="solid"/>
          </a:ln>
        </p:spPr>
      </p:sp>
      <p:sp>
        <p:nvSpPr>
          <p:cNvPr id="5" name="Shape 3"/>
          <p:cNvSpPr/>
          <p:nvPr/>
        </p:nvSpPr>
        <p:spPr>
          <a:xfrm>
            <a:off x="914400" y="1920240"/>
            <a:ext cx="146304" cy="146304"/>
          </a:xfrm>
          <a:prstGeom prst="ellipse">
            <a:avLst/>
          </a:prstGeom>
          <a:solidFill>
            <a:srgbClr val="2E7D8F"/>
          </a:solidFill>
          <a:ln w="12700">
            <a:solidFill>
              <a:srgbClr val="2E7D8F"/>
            </a:solidFill>
            <a:prstDash val="solid"/>
          </a:ln>
        </p:spPr>
      </p:sp>
      <p:sp>
        <p:nvSpPr>
          <p:cNvPr id="6" name="Text 4"/>
          <p:cNvSpPr txBox="1"/>
          <p:nvPr/>
        </p:nvSpPr>
        <p:spPr>
          <a:xfrm>
            <a:off x="1170432" y="1828800"/>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One contract, every disaster</a:t>
            </a:r>
            <a:endParaRPr lang="en-US" sz="1550" dirty="0"/>
          </a:p>
        </p:txBody>
      </p:sp>
      <p:sp>
        <p:nvSpPr>
          <p:cNvPr id="7" name="Text 5"/>
          <p:cNvSpPr txBox="1"/>
          <p:nvPr/>
        </p:nvSpPr>
        <p:spPr>
          <a:xfrm>
            <a:off x="914400" y="2194560"/>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Comparable systems are procured per disaster. Indradhanu defines a single HazardAdapter interface. Flood and heat run on live data; wildfire, seismic and air quality are registered against the same interface. Adding cyclone is a file, not a product.</a:t>
            </a:r>
            <a:endParaRPr lang="en-US" sz="1150" dirty="0"/>
          </a:p>
        </p:txBody>
      </p:sp>
      <p:sp>
        <p:nvSpPr>
          <p:cNvPr id="8" name="Shape 6"/>
          <p:cNvSpPr/>
          <p:nvPr/>
        </p:nvSpPr>
        <p:spPr>
          <a:xfrm>
            <a:off x="6260440" y="1609344"/>
            <a:ext cx="5291176" cy="1572768"/>
          </a:xfrm>
          <a:prstGeom prst="rect">
            <a:avLst/>
          </a:prstGeom>
          <a:solidFill>
            <a:srgbClr val="F3F6F9"/>
          </a:solidFill>
          <a:ln w="9525">
            <a:solidFill>
              <a:srgbClr val="CFD8E1"/>
            </a:solidFill>
            <a:prstDash val="solid"/>
          </a:ln>
        </p:spPr>
      </p:sp>
      <p:sp>
        <p:nvSpPr>
          <p:cNvPr id="9" name="Shape 7"/>
          <p:cNvSpPr/>
          <p:nvPr/>
        </p:nvSpPr>
        <p:spPr>
          <a:xfrm>
            <a:off x="6534760" y="1920240"/>
            <a:ext cx="146304" cy="146304"/>
          </a:xfrm>
          <a:prstGeom prst="ellipse">
            <a:avLst/>
          </a:prstGeom>
          <a:solidFill>
            <a:srgbClr val="B23A24"/>
          </a:solidFill>
          <a:ln w="12700">
            <a:solidFill>
              <a:srgbClr val="B23A24"/>
            </a:solidFill>
            <a:prstDash val="solid"/>
          </a:ln>
        </p:spPr>
      </p:sp>
      <p:sp>
        <p:nvSpPr>
          <p:cNvPr id="10" name="Text 8"/>
          <p:cNvSpPr txBox="1"/>
          <p:nvPr/>
        </p:nvSpPr>
        <p:spPr>
          <a:xfrm>
            <a:off x="6790792" y="1828800"/>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Decisions cite their authority</a:t>
            </a:r>
            <a:endParaRPr lang="en-US" sz="1550" dirty="0"/>
          </a:p>
        </p:txBody>
      </p:sp>
      <p:sp>
        <p:nvSpPr>
          <p:cNvPr id="11" name="Text 9"/>
          <p:cNvSpPr txBox="1"/>
          <p:nvPr/>
        </p:nvSpPr>
        <p:spPr>
          <a:xfrm>
            <a:off x="6534760" y="2194560"/>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The agent retrieves the applicable NDMA or municipal SOP clause before recommending anything, so the console shows “auto-issued under Ward Officer delegation, clause 4.2” rather than an unexplained instruction.</a:t>
            </a:r>
            <a:endParaRPr lang="en-US" sz="1150" dirty="0"/>
          </a:p>
        </p:txBody>
      </p:sp>
      <p:sp>
        <p:nvSpPr>
          <p:cNvPr id="12" name="Shape 10"/>
          <p:cNvSpPr/>
          <p:nvPr/>
        </p:nvSpPr>
        <p:spPr>
          <a:xfrm>
            <a:off x="640080" y="3383280"/>
            <a:ext cx="5291176" cy="1572768"/>
          </a:xfrm>
          <a:prstGeom prst="rect">
            <a:avLst/>
          </a:prstGeom>
          <a:solidFill>
            <a:srgbClr val="F3F6F9"/>
          </a:solidFill>
          <a:ln w="9525">
            <a:solidFill>
              <a:srgbClr val="CFD8E1"/>
            </a:solidFill>
            <a:prstDash val="solid"/>
          </a:ln>
        </p:spPr>
      </p:sp>
      <p:sp>
        <p:nvSpPr>
          <p:cNvPr id="13" name="Shape 11"/>
          <p:cNvSpPr/>
          <p:nvPr/>
        </p:nvSpPr>
        <p:spPr>
          <a:xfrm>
            <a:off x="914400" y="3694176"/>
            <a:ext cx="146304" cy="146304"/>
          </a:xfrm>
          <a:prstGeom prst="ellipse">
            <a:avLst/>
          </a:prstGeom>
          <a:solidFill>
            <a:srgbClr val="6E5596"/>
          </a:solidFill>
          <a:ln w="12700">
            <a:solidFill>
              <a:srgbClr val="6E5596"/>
            </a:solidFill>
            <a:prstDash val="solid"/>
          </a:ln>
        </p:spPr>
      </p:sp>
      <p:sp>
        <p:nvSpPr>
          <p:cNvPr id="14" name="Text 12"/>
          <p:cNvSpPr txBox="1"/>
          <p:nvPr/>
        </p:nvSpPr>
        <p:spPr>
          <a:xfrm>
            <a:off x="1170432" y="3602736"/>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The planner is a solver, not a guess</a:t>
            </a:r>
            <a:endParaRPr lang="en-US" sz="1550" dirty="0"/>
          </a:p>
        </p:txBody>
      </p:sp>
      <p:sp>
        <p:nvSpPr>
          <p:cNvPr id="15" name="Text 13"/>
          <p:cNvSpPr txBox="1"/>
          <p:nvPr/>
        </p:nvSpPr>
        <p:spPr>
          <a:xfrm>
            <a:off x="914400" y="3968496"/>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The model proposes and explains; OR-Tools CP-SAT allocates under real capacity and live travel-time constraints, with flooded roads removed from the routing graph as the event evolves.</a:t>
            </a:r>
            <a:endParaRPr lang="en-US" sz="1150" dirty="0"/>
          </a:p>
        </p:txBody>
      </p:sp>
      <p:sp>
        <p:nvSpPr>
          <p:cNvPr id="16" name="Shape 14"/>
          <p:cNvSpPr/>
          <p:nvPr/>
        </p:nvSpPr>
        <p:spPr>
          <a:xfrm>
            <a:off x="6260440" y="3383280"/>
            <a:ext cx="5291176" cy="1572768"/>
          </a:xfrm>
          <a:prstGeom prst="rect">
            <a:avLst/>
          </a:prstGeom>
          <a:solidFill>
            <a:srgbClr val="F3F6F9"/>
          </a:solidFill>
          <a:ln w="9525">
            <a:solidFill>
              <a:srgbClr val="CFD8E1"/>
            </a:solidFill>
            <a:prstDash val="solid"/>
          </a:ln>
        </p:spPr>
      </p:sp>
      <p:sp>
        <p:nvSpPr>
          <p:cNvPr id="17" name="Shape 15"/>
          <p:cNvSpPr/>
          <p:nvPr/>
        </p:nvSpPr>
        <p:spPr>
          <a:xfrm>
            <a:off x="6534760" y="3694176"/>
            <a:ext cx="146304" cy="146304"/>
          </a:xfrm>
          <a:prstGeom prst="ellipse">
            <a:avLst/>
          </a:prstGeom>
          <a:solidFill>
            <a:srgbClr val="C97A20"/>
          </a:solidFill>
          <a:ln w="12700">
            <a:solidFill>
              <a:srgbClr val="C97A20"/>
            </a:solidFill>
            <a:prstDash val="solid"/>
          </a:ln>
        </p:spPr>
      </p:sp>
      <p:sp>
        <p:nvSpPr>
          <p:cNvPr id="18" name="Text 16"/>
          <p:cNvSpPr txBox="1"/>
          <p:nvPr/>
        </p:nvSpPr>
        <p:spPr>
          <a:xfrm>
            <a:off x="6790792" y="3602736"/>
            <a:ext cx="4486504" cy="292608"/>
          </a:xfrm>
          <a:prstGeom prst="rect">
            <a:avLst/>
          </a:prstGeom>
          <a:noFill/>
          <a:ln/>
        </p:spPr>
        <p:txBody>
          <a:bodyPr wrap="square" lIns="0" tIns="0" rIns="0" bIns="0" rtlCol="0" anchor="ctr"/>
          <a:lstStyle/>
          <a:p>
            <a:pPr marL="0" indent="0">
              <a:buNone/>
            </a:pPr>
            <a:r>
              <a:rPr lang="en-US" sz="1550" b="1" dirty="0">
                <a:solidFill>
                  <a:srgbClr val="11253C"/>
                </a:solidFill>
                <a:latin typeface="Calibri" pitchFamily="34" charset="0"/>
                <a:ea typeface="Calibri" pitchFamily="34" charset="-122"/>
                <a:cs typeface="Calibri" pitchFamily="34" charset="-120"/>
              </a:rPr>
              <a:t>Replay Mode: provable in any season</a:t>
            </a:r>
            <a:endParaRPr lang="en-US" sz="1550" dirty="0"/>
          </a:p>
        </p:txBody>
      </p:sp>
      <p:sp>
        <p:nvSpPr>
          <p:cNvPr id="19" name="Text 17"/>
          <p:cNvSpPr txBox="1"/>
          <p:nvPr/>
        </p:nvSpPr>
        <p:spPr>
          <a:xfrm>
            <a:off x="6534760" y="3968496"/>
            <a:ext cx="4742536" cy="8778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The same pipeline runs against a historical clock. We backtest on the Pune floods of 25 July 2024 with real reanalysis data, so the system can be validated and demonstrated outside the monsoon.</a:t>
            </a:r>
            <a:endParaRPr lang="en-US" sz="1150" dirty="0"/>
          </a:p>
        </p:txBody>
      </p:sp>
      <p:sp>
        <p:nvSpPr>
          <p:cNvPr id="20" name="Shape 18"/>
          <p:cNvSpPr/>
          <p:nvPr/>
        </p:nvSpPr>
        <p:spPr>
          <a:xfrm>
            <a:off x="640080" y="5138928"/>
            <a:ext cx="10911535" cy="1261872"/>
          </a:xfrm>
          <a:prstGeom prst="rect">
            <a:avLst/>
          </a:prstGeom>
          <a:solidFill>
            <a:srgbClr val="FFFFFF"/>
          </a:solidFill>
          <a:ln w="15875">
            <a:solidFill>
              <a:srgbClr val="9FAFBE"/>
            </a:solidFill>
            <a:prstDash val="solid"/>
          </a:ln>
        </p:spPr>
      </p:sp>
      <p:sp>
        <p:nvSpPr>
          <p:cNvPr id="21" name="Text 19"/>
          <p:cNvSpPr txBox="1"/>
          <p:nvPr/>
        </p:nvSpPr>
        <p:spPr>
          <a:xfrm>
            <a:off x="914400" y="5266944"/>
            <a:ext cx="6400800" cy="237744"/>
          </a:xfrm>
          <a:prstGeom prst="rect">
            <a:avLst/>
          </a:prstGeom>
          <a:noFill/>
          <a:ln/>
        </p:spPr>
        <p:txBody>
          <a:bodyPr wrap="square" lIns="0" tIns="0" rIns="0" bIns="0" rtlCol="0" anchor="ctr"/>
          <a:lstStyle/>
          <a:p>
            <a:pPr marL="0" indent="0">
              <a:buNone/>
            </a:pPr>
            <a:r>
              <a:rPr lang="en-US" sz="1350" b="1" dirty="0">
                <a:solidFill>
                  <a:srgbClr val="11253C"/>
                </a:solidFill>
                <a:latin typeface="Calibri" pitchFamily="34" charset="0"/>
                <a:ea typeface="Calibri" pitchFamily="34" charset="-122"/>
                <a:cs typeface="Calibri" pitchFamily="34" charset="-120"/>
              </a:rPr>
              <a:t>Forecast to verified action — one closed loop</a:t>
            </a:r>
            <a:endParaRPr lang="en-US" sz="1350" dirty="0"/>
          </a:p>
        </p:txBody>
      </p:sp>
      <p:sp>
        <p:nvSpPr>
          <p:cNvPr id="22" name="Shape 20"/>
          <p:cNvSpPr/>
          <p:nvPr/>
        </p:nvSpPr>
        <p:spPr>
          <a:xfrm>
            <a:off x="914400" y="5614416"/>
            <a:ext cx="1070153" cy="548640"/>
          </a:xfrm>
          <a:prstGeom prst="roundRect">
            <a:avLst>
              <a:gd name="adj" fmla="val 8333"/>
            </a:avLst>
          </a:prstGeom>
          <a:solidFill>
            <a:srgbClr val="F3F6F9"/>
          </a:solidFill>
          <a:ln w="9525">
            <a:solidFill>
              <a:srgbClr val="CFD8E1"/>
            </a:solidFill>
            <a:prstDash val="solid"/>
          </a:ln>
        </p:spPr>
      </p:sp>
      <p:sp>
        <p:nvSpPr>
          <p:cNvPr id="23" name="Text 21"/>
          <p:cNvSpPr txBox="1"/>
          <p:nvPr/>
        </p:nvSpPr>
        <p:spPr>
          <a:xfrm>
            <a:off x="950976"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Forecast</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ingested</a:t>
            </a:r>
            <a:endParaRPr lang="en-US" sz="850" dirty="0"/>
          </a:p>
        </p:txBody>
      </p:sp>
      <p:sp>
        <p:nvSpPr>
          <p:cNvPr id="24" name="Shape 22"/>
          <p:cNvSpPr/>
          <p:nvPr/>
        </p:nvSpPr>
        <p:spPr>
          <a:xfrm>
            <a:off x="2075993" y="5614416"/>
            <a:ext cx="1070153" cy="548640"/>
          </a:xfrm>
          <a:prstGeom prst="roundRect">
            <a:avLst>
              <a:gd name="adj" fmla="val 8333"/>
            </a:avLst>
          </a:prstGeom>
          <a:solidFill>
            <a:srgbClr val="F3F6F9"/>
          </a:solidFill>
          <a:ln w="9525">
            <a:solidFill>
              <a:srgbClr val="CFD8E1"/>
            </a:solidFill>
            <a:prstDash val="solid"/>
          </a:ln>
        </p:spPr>
      </p:sp>
      <p:sp>
        <p:nvSpPr>
          <p:cNvPr id="25" name="Text 23"/>
          <p:cNvSpPr txBox="1"/>
          <p:nvPr/>
        </p:nvSpPr>
        <p:spPr>
          <a:xfrm>
            <a:off x="2112569"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250 m</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impact map</a:t>
            </a:r>
            <a:endParaRPr lang="en-US" sz="850" dirty="0"/>
          </a:p>
        </p:txBody>
      </p:sp>
      <p:sp>
        <p:nvSpPr>
          <p:cNvPr id="26" name="Shape 24"/>
          <p:cNvSpPr/>
          <p:nvPr/>
        </p:nvSpPr>
        <p:spPr>
          <a:xfrm>
            <a:off x="3237586" y="5614416"/>
            <a:ext cx="1070153" cy="548640"/>
          </a:xfrm>
          <a:prstGeom prst="roundRect">
            <a:avLst>
              <a:gd name="adj" fmla="val 8333"/>
            </a:avLst>
          </a:prstGeom>
          <a:solidFill>
            <a:srgbClr val="F3F6F9"/>
          </a:solidFill>
          <a:ln w="9525">
            <a:solidFill>
              <a:srgbClr val="CFD8E1"/>
            </a:solidFill>
            <a:prstDash val="solid"/>
          </a:ln>
        </p:spPr>
      </p:sp>
      <p:sp>
        <p:nvSpPr>
          <p:cNvPr id="27" name="Text 25"/>
          <p:cNvSpPr txBox="1"/>
          <p:nvPr/>
        </p:nvSpPr>
        <p:spPr>
          <a:xfrm>
            <a:off x="3274162"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Policy</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clause checked</a:t>
            </a:r>
            <a:endParaRPr lang="en-US" sz="850" dirty="0"/>
          </a:p>
        </p:txBody>
      </p:sp>
      <p:sp>
        <p:nvSpPr>
          <p:cNvPr id="28" name="Shape 26"/>
          <p:cNvSpPr/>
          <p:nvPr/>
        </p:nvSpPr>
        <p:spPr>
          <a:xfrm>
            <a:off x="4399178" y="5614416"/>
            <a:ext cx="1070153" cy="548640"/>
          </a:xfrm>
          <a:prstGeom prst="roundRect">
            <a:avLst>
              <a:gd name="adj" fmla="val 8333"/>
            </a:avLst>
          </a:prstGeom>
          <a:solidFill>
            <a:srgbClr val="F3F6F9"/>
          </a:solidFill>
          <a:ln w="9525">
            <a:solidFill>
              <a:srgbClr val="CFD8E1"/>
            </a:solidFill>
            <a:prstDash val="solid"/>
          </a:ln>
        </p:spPr>
      </p:sp>
      <p:sp>
        <p:nvSpPr>
          <p:cNvPr id="29" name="Text 27"/>
          <p:cNvSpPr txBox="1"/>
          <p:nvPr/>
        </p:nvSpPr>
        <p:spPr>
          <a:xfrm>
            <a:off x="4435754"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Solver</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allocates</a:t>
            </a:r>
            <a:endParaRPr lang="en-US" sz="850" dirty="0"/>
          </a:p>
        </p:txBody>
      </p:sp>
      <p:sp>
        <p:nvSpPr>
          <p:cNvPr id="30" name="Shape 28"/>
          <p:cNvSpPr/>
          <p:nvPr/>
        </p:nvSpPr>
        <p:spPr>
          <a:xfrm>
            <a:off x="5560771" y="5614416"/>
            <a:ext cx="1070153" cy="548640"/>
          </a:xfrm>
          <a:prstGeom prst="roundRect">
            <a:avLst>
              <a:gd name="adj" fmla="val 8333"/>
            </a:avLst>
          </a:prstGeom>
          <a:solidFill>
            <a:srgbClr val="E8EEF3"/>
          </a:solidFill>
          <a:ln w="15875">
            <a:solidFill>
              <a:srgbClr val="B23A24"/>
            </a:solidFill>
            <a:prstDash val="solid"/>
          </a:ln>
        </p:spPr>
      </p:sp>
      <p:sp>
        <p:nvSpPr>
          <p:cNvPr id="31" name="Text 29"/>
          <p:cNvSpPr txBox="1"/>
          <p:nvPr/>
        </p:nvSpPr>
        <p:spPr>
          <a:xfrm>
            <a:off x="5597347" y="5614416"/>
            <a:ext cx="997001" cy="548640"/>
          </a:xfrm>
          <a:prstGeom prst="rect">
            <a:avLst/>
          </a:prstGeom>
          <a:noFill/>
          <a:ln/>
        </p:spPr>
        <p:txBody>
          <a:bodyPr wrap="square" lIns="0" tIns="0" rIns="0" bIns="0" rtlCol="0" anchor="ctr"/>
          <a:lstStyle/>
          <a:p>
            <a:pPr marL="0" indent="0" algn="ctr">
              <a:lnSpc>
                <a:spcPts val="1100"/>
              </a:lnSpc>
              <a:buNone/>
            </a:pPr>
            <a:r>
              <a:rPr lang="en-US" sz="850" b="1" dirty="0">
                <a:solidFill>
                  <a:srgbClr val="11253C"/>
                </a:solidFill>
                <a:latin typeface="Calibri" pitchFamily="34" charset="0"/>
                <a:ea typeface="Calibri" pitchFamily="34" charset="-122"/>
                <a:cs typeface="Calibri" pitchFamily="34" charset="-120"/>
              </a:rPr>
              <a:t>Officer</a:t>
            </a:r>
            <a:endParaRPr lang="en-US" sz="850" dirty="0"/>
          </a:p>
          <a:p>
            <a:pPr marL="0" indent="0" algn="ctr">
              <a:lnSpc>
                <a:spcPts val="1100"/>
              </a:lnSpc>
              <a:buNone/>
            </a:pPr>
            <a:r>
              <a:rPr lang="en-US" sz="850" b="1" dirty="0">
                <a:solidFill>
                  <a:srgbClr val="11253C"/>
                </a:solidFill>
                <a:latin typeface="Calibri" pitchFamily="34" charset="0"/>
                <a:ea typeface="Calibri" pitchFamily="34" charset="-122"/>
                <a:cs typeface="Calibri" pitchFamily="34" charset="-120"/>
              </a:rPr>
              <a:t>approves</a:t>
            </a:r>
            <a:endParaRPr lang="en-US" sz="850" dirty="0"/>
          </a:p>
        </p:txBody>
      </p:sp>
      <p:sp>
        <p:nvSpPr>
          <p:cNvPr id="32" name="Shape 30"/>
          <p:cNvSpPr/>
          <p:nvPr/>
        </p:nvSpPr>
        <p:spPr>
          <a:xfrm>
            <a:off x="6722364" y="5614416"/>
            <a:ext cx="1070153" cy="548640"/>
          </a:xfrm>
          <a:prstGeom prst="roundRect">
            <a:avLst>
              <a:gd name="adj" fmla="val 8333"/>
            </a:avLst>
          </a:prstGeom>
          <a:solidFill>
            <a:srgbClr val="F3F6F9"/>
          </a:solidFill>
          <a:ln w="9525">
            <a:solidFill>
              <a:srgbClr val="CFD8E1"/>
            </a:solidFill>
            <a:prstDash val="solid"/>
          </a:ln>
        </p:spPr>
      </p:sp>
      <p:sp>
        <p:nvSpPr>
          <p:cNvPr id="33" name="Text 31"/>
          <p:cNvSpPr txBox="1"/>
          <p:nvPr/>
        </p:nvSpPr>
        <p:spPr>
          <a:xfrm>
            <a:off x="6758940"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Citizens</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warned</a:t>
            </a:r>
            <a:endParaRPr lang="en-US" sz="850" dirty="0"/>
          </a:p>
        </p:txBody>
      </p:sp>
      <p:sp>
        <p:nvSpPr>
          <p:cNvPr id="34" name="Shape 32"/>
          <p:cNvSpPr/>
          <p:nvPr/>
        </p:nvSpPr>
        <p:spPr>
          <a:xfrm>
            <a:off x="7883957" y="5614416"/>
            <a:ext cx="1070153" cy="548640"/>
          </a:xfrm>
          <a:prstGeom prst="roundRect">
            <a:avLst>
              <a:gd name="adj" fmla="val 8333"/>
            </a:avLst>
          </a:prstGeom>
          <a:solidFill>
            <a:srgbClr val="F3F6F9"/>
          </a:solidFill>
          <a:ln w="9525">
            <a:solidFill>
              <a:srgbClr val="CFD8E1"/>
            </a:solidFill>
            <a:prstDash val="solid"/>
          </a:ln>
        </p:spPr>
      </p:sp>
      <p:sp>
        <p:nvSpPr>
          <p:cNvPr id="35" name="Text 33"/>
          <p:cNvSpPr txBox="1"/>
          <p:nvPr/>
        </p:nvSpPr>
        <p:spPr>
          <a:xfrm>
            <a:off x="7920533"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Teams</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dispatched</a:t>
            </a:r>
            <a:endParaRPr lang="en-US" sz="850" dirty="0"/>
          </a:p>
        </p:txBody>
      </p:sp>
      <p:sp>
        <p:nvSpPr>
          <p:cNvPr id="36" name="Shape 34"/>
          <p:cNvSpPr/>
          <p:nvPr/>
        </p:nvSpPr>
        <p:spPr>
          <a:xfrm>
            <a:off x="9045550" y="5614416"/>
            <a:ext cx="1070153" cy="548640"/>
          </a:xfrm>
          <a:prstGeom prst="roundRect">
            <a:avLst>
              <a:gd name="adj" fmla="val 8333"/>
            </a:avLst>
          </a:prstGeom>
          <a:solidFill>
            <a:srgbClr val="F3F6F9"/>
          </a:solidFill>
          <a:ln w="9525">
            <a:solidFill>
              <a:srgbClr val="CFD8E1"/>
            </a:solidFill>
            <a:prstDash val="solid"/>
          </a:ln>
        </p:spPr>
      </p:sp>
      <p:sp>
        <p:nvSpPr>
          <p:cNvPr id="37" name="Text 35"/>
          <p:cNvSpPr txBox="1"/>
          <p:nvPr/>
        </p:nvSpPr>
        <p:spPr>
          <a:xfrm>
            <a:off x="9082126"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Closed</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with proof</a:t>
            </a:r>
            <a:endParaRPr lang="en-US" sz="850" dirty="0"/>
          </a:p>
        </p:txBody>
      </p:sp>
      <p:sp>
        <p:nvSpPr>
          <p:cNvPr id="38" name="Shape 36"/>
          <p:cNvSpPr/>
          <p:nvPr/>
        </p:nvSpPr>
        <p:spPr>
          <a:xfrm>
            <a:off x="10207142" y="5614416"/>
            <a:ext cx="1070153" cy="548640"/>
          </a:xfrm>
          <a:prstGeom prst="roundRect">
            <a:avLst>
              <a:gd name="adj" fmla="val 8333"/>
            </a:avLst>
          </a:prstGeom>
          <a:solidFill>
            <a:srgbClr val="F3F6F9"/>
          </a:solidFill>
          <a:ln w="9525">
            <a:solidFill>
              <a:srgbClr val="CFD8E1"/>
            </a:solidFill>
            <a:prstDash val="solid"/>
          </a:ln>
        </p:spPr>
      </p:sp>
      <p:sp>
        <p:nvSpPr>
          <p:cNvPr id="39" name="Text 37"/>
          <p:cNvSpPr txBox="1"/>
          <p:nvPr/>
        </p:nvSpPr>
        <p:spPr>
          <a:xfrm>
            <a:off x="10243718" y="5614416"/>
            <a:ext cx="997001" cy="548640"/>
          </a:xfrm>
          <a:prstGeom prst="rect">
            <a:avLst/>
          </a:prstGeom>
          <a:noFill/>
          <a:ln/>
        </p:spPr>
        <p:txBody>
          <a:bodyPr wrap="square" lIns="0" tIns="0" rIns="0" bIns="0" rtlCol="0" anchor="ctr"/>
          <a:lstStyle/>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Override</a:t>
            </a:r>
            <a:endParaRPr lang="en-US" sz="850" dirty="0"/>
          </a:p>
          <a:p>
            <a:pPr marL="0" indent="0" algn="ctr">
              <a:lnSpc>
                <a:spcPts val="1100"/>
              </a:lnSpc>
              <a:buNone/>
            </a:pPr>
            <a:r>
              <a:rPr lang="en-US" sz="850" dirty="0">
                <a:solidFill>
                  <a:srgbClr val="11253C"/>
                </a:solidFill>
                <a:latin typeface="Calibri" pitchFamily="34" charset="0"/>
                <a:ea typeface="Calibri" pitchFamily="34" charset="-122"/>
                <a:cs typeface="Calibri" pitchFamily="34" charset="-120"/>
              </a:rPr>
              <a:t>learned from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07  ·  OUTCOMES</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Expected Outcome</a:t>
            </a:r>
            <a:endParaRPr lang="en-US" sz="3300" dirty="0"/>
          </a:p>
        </p:txBody>
      </p:sp>
      <p:sp>
        <p:nvSpPr>
          <p:cNvPr id="4" name="Text 2"/>
          <p:cNvSpPr txBox="1"/>
          <p:nvPr/>
        </p:nvSpPr>
        <p:spPr>
          <a:xfrm>
            <a:off x="640080" y="1591056"/>
            <a:ext cx="4937760" cy="237744"/>
          </a:xfrm>
          <a:prstGeom prst="rect">
            <a:avLst/>
          </a:prstGeom>
          <a:noFill/>
          <a:ln/>
        </p:spPr>
        <p:txBody>
          <a:bodyPr wrap="square" lIns="0" tIns="0" rIns="0" bIns="0" rtlCol="0" anchor="ctr"/>
          <a:lstStyle/>
          <a:p>
            <a:pPr marL="0" indent="0">
              <a:buNone/>
            </a:pPr>
            <a:r>
              <a:rPr lang="en-US" sz="1000" b="1" kern="0" spc="160" dirty="0">
                <a:solidFill>
                  <a:srgbClr val="6E8194"/>
                </a:solidFill>
                <a:latin typeface="Calibri" pitchFamily="34" charset="0"/>
                <a:ea typeface="Calibri" pitchFamily="34" charset="-122"/>
                <a:cs typeface="Calibri" pitchFamily="34" charset="-120"/>
              </a:rPr>
              <a:t>DELIVERABLES</a:t>
            </a:r>
            <a:endParaRPr lang="en-US" sz="1000" dirty="0"/>
          </a:p>
        </p:txBody>
      </p:sp>
      <p:sp>
        <p:nvSpPr>
          <p:cNvPr id="5" name="Shape 3"/>
          <p:cNvSpPr/>
          <p:nvPr/>
        </p:nvSpPr>
        <p:spPr>
          <a:xfrm>
            <a:off x="640080" y="1920240"/>
            <a:ext cx="310896" cy="310896"/>
          </a:xfrm>
          <a:prstGeom prst="ellipse">
            <a:avLst/>
          </a:prstGeom>
          <a:solidFill>
            <a:srgbClr val="11253C"/>
          </a:solidFill>
          <a:ln w="12700">
            <a:solidFill>
              <a:srgbClr val="11253C"/>
            </a:solidFill>
            <a:prstDash val="solid"/>
          </a:ln>
        </p:spPr>
      </p:sp>
      <p:sp>
        <p:nvSpPr>
          <p:cNvPr id="6" name="Text 4"/>
          <p:cNvSpPr txBox="1"/>
          <p:nvPr/>
        </p:nvSpPr>
        <p:spPr>
          <a:xfrm>
            <a:off x="640080" y="1920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33856" y="1901952"/>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Deployed platform, three interfaces</a:t>
            </a:r>
            <a:endParaRPr lang="en-US" sz="1400" dirty="0"/>
          </a:p>
        </p:txBody>
      </p:sp>
      <p:sp>
        <p:nvSpPr>
          <p:cNvPr id="8" name="Text 6"/>
          <p:cNvSpPr txBox="1"/>
          <p:nvPr/>
        </p:nvSpPr>
        <p:spPr>
          <a:xfrm>
            <a:off x="1133856" y="2167128"/>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Citizen portal, administration console and field operator portal, live on the internet.</a:t>
            </a:r>
            <a:endParaRPr lang="en-US" sz="1150" dirty="0"/>
          </a:p>
        </p:txBody>
      </p:sp>
      <p:sp>
        <p:nvSpPr>
          <p:cNvPr id="9" name="Shape 7"/>
          <p:cNvSpPr/>
          <p:nvPr/>
        </p:nvSpPr>
        <p:spPr>
          <a:xfrm>
            <a:off x="640080" y="2852928"/>
            <a:ext cx="310896" cy="310896"/>
          </a:xfrm>
          <a:prstGeom prst="ellipse">
            <a:avLst/>
          </a:prstGeom>
          <a:solidFill>
            <a:srgbClr val="11253C"/>
          </a:solidFill>
          <a:ln w="12700">
            <a:solidFill>
              <a:srgbClr val="11253C"/>
            </a:solidFill>
            <a:prstDash val="solid"/>
          </a:ln>
        </p:spPr>
      </p:sp>
      <p:sp>
        <p:nvSpPr>
          <p:cNvPr id="10" name="Text 8"/>
          <p:cNvSpPr txBox="1"/>
          <p:nvPr/>
        </p:nvSpPr>
        <p:spPr>
          <a:xfrm>
            <a:off x="640080" y="28529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133856" y="2834640"/>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Multi-hazard risk engine</a:t>
            </a:r>
            <a:endParaRPr lang="en-US" sz="1400" dirty="0"/>
          </a:p>
        </p:txBody>
      </p:sp>
      <p:sp>
        <p:nvSpPr>
          <p:cNvPr id="12" name="Text 10"/>
          <p:cNvSpPr txBox="1"/>
          <p:nvPr/>
        </p:nvSpPr>
        <p:spPr>
          <a:xfrm>
            <a:off x="1133856" y="3099816"/>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Trained flood and heat models plus three registered adapters, served over FastAPI.</a:t>
            </a:r>
            <a:endParaRPr lang="en-US" sz="1150" dirty="0"/>
          </a:p>
        </p:txBody>
      </p:sp>
      <p:sp>
        <p:nvSpPr>
          <p:cNvPr id="13" name="Shape 11"/>
          <p:cNvSpPr/>
          <p:nvPr/>
        </p:nvSpPr>
        <p:spPr>
          <a:xfrm>
            <a:off x="640080" y="3785616"/>
            <a:ext cx="310896" cy="310896"/>
          </a:xfrm>
          <a:prstGeom prst="ellipse">
            <a:avLst/>
          </a:prstGeom>
          <a:solidFill>
            <a:srgbClr val="11253C"/>
          </a:solidFill>
          <a:ln w="12700">
            <a:solidFill>
              <a:srgbClr val="11253C"/>
            </a:solidFill>
            <a:prstDash val="solid"/>
          </a:ln>
        </p:spPr>
      </p:sp>
      <p:sp>
        <p:nvSpPr>
          <p:cNvPr id="14" name="Text 12"/>
          <p:cNvSpPr txBox="1"/>
          <p:nvPr/>
        </p:nvSpPr>
        <p:spPr>
          <a:xfrm>
            <a:off x="640080" y="37856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133856" y="3767328"/>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Policy-grounded dispatch planner</a:t>
            </a:r>
            <a:endParaRPr lang="en-US" sz="1400" dirty="0"/>
          </a:p>
        </p:txBody>
      </p:sp>
      <p:sp>
        <p:nvSpPr>
          <p:cNvPr id="16" name="Text 14"/>
          <p:cNvSpPr txBox="1"/>
          <p:nvPr/>
        </p:nvSpPr>
        <p:spPr>
          <a:xfrm>
            <a:off x="1133856" y="4032504"/>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LangGraph workflow, OR-Tools allocation solver, and an SOP-cited approval gate.</a:t>
            </a:r>
            <a:endParaRPr lang="en-US" sz="1150" dirty="0"/>
          </a:p>
        </p:txBody>
      </p:sp>
      <p:sp>
        <p:nvSpPr>
          <p:cNvPr id="17" name="Shape 15"/>
          <p:cNvSpPr/>
          <p:nvPr/>
        </p:nvSpPr>
        <p:spPr>
          <a:xfrm>
            <a:off x="640080" y="4718304"/>
            <a:ext cx="310896" cy="310896"/>
          </a:xfrm>
          <a:prstGeom prst="ellipse">
            <a:avLst/>
          </a:prstGeom>
          <a:solidFill>
            <a:srgbClr val="11253C"/>
          </a:solidFill>
          <a:ln w="12700">
            <a:solidFill>
              <a:srgbClr val="11253C"/>
            </a:solidFill>
            <a:prstDash val="solid"/>
          </a:ln>
        </p:spPr>
      </p:sp>
      <p:sp>
        <p:nvSpPr>
          <p:cNvPr id="18" name="Text 16"/>
          <p:cNvSpPr txBox="1"/>
          <p:nvPr/>
        </p:nvSpPr>
        <p:spPr>
          <a:xfrm>
            <a:off x="640080" y="47183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133856" y="4700016"/>
            <a:ext cx="4480560" cy="256032"/>
          </a:xfrm>
          <a:prstGeom prst="rect">
            <a:avLst/>
          </a:prstGeom>
          <a:noFill/>
          <a:ln/>
        </p:spPr>
        <p:txBody>
          <a:bodyPr wrap="square" lIns="0" tIns="0" rIns="0" bIns="0" rtlCol="0" anchor="ctr"/>
          <a:lstStyle/>
          <a:p>
            <a:pPr marL="0" indent="0">
              <a:buNone/>
            </a:pPr>
            <a:r>
              <a:rPr lang="en-US" sz="1400" b="1" dirty="0">
                <a:solidFill>
                  <a:srgbClr val="11253C"/>
                </a:solidFill>
                <a:latin typeface="Calibri" pitchFamily="34" charset="0"/>
                <a:ea typeface="Calibri" pitchFamily="34" charset="-122"/>
                <a:cs typeface="Calibri" pitchFamily="34" charset="-120"/>
              </a:rPr>
              <a:t>Pune reference dataset</a:t>
            </a:r>
            <a:endParaRPr lang="en-US" sz="1400" dirty="0"/>
          </a:p>
        </p:txBody>
      </p:sp>
      <p:sp>
        <p:nvSpPr>
          <p:cNvPr id="20" name="Text 18"/>
          <p:cNvSpPr txBox="1"/>
          <p:nvPr/>
        </p:nvSpPr>
        <p:spPr>
          <a:xfrm>
            <a:off x="1133856" y="4965192"/>
            <a:ext cx="4480560" cy="420624"/>
          </a:xfrm>
          <a:prstGeom prst="rect">
            <a:avLst/>
          </a:prstGeom>
          <a:noFill/>
          <a:ln/>
        </p:spPr>
        <p:txBody>
          <a:bodyPr wrap="square" lIns="0" tIns="0" rIns="0" bIns="0" rtlCol="0" anchor="ctr"/>
          <a:lstStyle/>
          <a:p>
            <a:pPr marL="0" indent="0">
              <a:lnSpc>
                <a:spcPts val="1600"/>
              </a:lnSpc>
              <a:buNone/>
            </a:pPr>
            <a:r>
              <a:rPr lang="en-US" sz="1150" dirty="0">
                <a:solidFill>
                  <a:srgbClr val="3D5468"/>
                </a:solidFill>
                <a:latin typeface="Calibri" pitchFamily="34" charset="0"/>
                <a:ea typeface="Calibri" pitchFamily="34" charset="-122"/>
                <a:cs typeface="Calibri" pitchFamily="34" charset="-120"/>
              </a:rPr>
              <a:t>Ward boundaries, elevation, exposure layers and the July 2024 replay scenario in PostGIS.</a:t>
            </a:r>
            <a:endParaRPr lang="en-US" sz="1150" dirty="0"/>
          </a:p>
        </p:txBody>
      </p:sp>
      <p:sp>
        <p:nvSpPr>
          <p:cNvPr id="21" name="Shape 19"/>
          <p:cNvSpPr/>
          <p:nvPr/>
        </p:nvSpPr>
        <p:spPr>
          <a:xfrm>
            <a:off x="6309360" y="1591056"/>
            <a:ext cx="5242255" cy="1700784"/>
          </a:xfrm>
          <a:prstGeom prst="rect">
            <a:avLst/>
          </a:prstGeom>
          <a:solidFill>
            <a:srgbClr val="F3F6F9"/>
          </a:solidFill>
          <a:ln w="9525">
            <a:solidFill>
              <a:srgbClr val="CFD8E1"/>
            </a:solidFill>
            <a:prstDash val="solid"/>
          </a:ln>
        </p:spPr>
      </p:sp>
      <p:sp>
        <p:nvSpPr>
          <p:cNvPr id="22" name="Text 20"/>
          <p:cNvSpPr txBox="1"/>
          <p:nvPr/>
        </p:nvSpPr>
        <p:spPr>
          <a:xfrm>
            <a:off x="6583680" y="1792224"/>
            <a:ext cx="4693615" cy="219456"/>
          </a:xfrm>
          <a:prstGeom prst="rect">
            <a:avLst/>
          </a:prstGeom>
          <a:noFill/>
          <a:ln/>
        </p:spPr>
        <p:txBody>
          <a:bodyPr wrap="square" lIns="0" tIns="0" rIns="0" bIns="0" rtlCol="0" anchor="ctr"/>
          <a:lstStyle/>
          <a:p>
            <a:pPr marL="0" indent="0">
              <a:buNone/>
            </a:pPr>
            <a:r>
              <a:rPr lang="en-US" sz="1000" b="1" kern="0" spc="150" dirty="0">
                <a:solidFill>
                  <a:srgbClr val="6E8194"/>
                </a:solidFill>
                <a:latin typeface="Calibri" pitchFamily="34" charset="0"/>
                <a:ea typeface="Calibri" pitchFamily="34" charset="-122"/>
                <a:cs typeface="Calibri" pitchFamily="34" charset="-120"/>
              </a:rPr>
              <a:t>SHORT TERM   ·   0–12 MONTHS</a:t>
            </a:r>
            <a:endParaRPr lang="en-US" sz="1000" dirty="0"/>
          </a:p>
        </p:txBody>
      </p:sp>
      <p:sp>
        <p:nvSpPr>
          <p:cNvPr id="23" name="Shape 21"/>
          <p:cNvSpPr/>
          <p:nvPr/>
        </p:nvSpPr>
        <p:spPr>
          <a:xfrm>
            <a:off x="6583680" y="2304288"/>
            <a:ext cx="100584" cy="100584"/>
          </a:xfrm>
          <a:prstGeom prst="ellipse">
            <a:avLst/>
          </a:prstGeom>
          <a:solidFill>
            <a:srgbClr val="2E7D8F"/>
          </a:solidFill>
          <a:ln w="12700">
            <a:solidFill>
              <a:srgbClr val="2E7D8F"/>
            </a:solidFill>
            <a:prstDash val="solid"/>
          </a:ln>
        </p:spPr>
      </p:sp>
      <p:sp>
        <p:nvSpPr>
          <p:cNvPr id="24" name="Text 22"/>
          <p:cNvSpPr txBox="1"/>
          <p:nvPr/>
        </p:nvSpPr>
        <p:spPr>
          <a:xfrm>
            <a:off x="6821424" y="2203704"/>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One municipal corporation live on real ward data</a:t>
            </a:r>
            <a:endParaRPr lang="en-US" sz="1150" dirty="0"/>
          </a:p>
        </p:txBody>
      </p:sp>
      <p:sp>
        <p:nvSpPr>
          <p:cNvPr id="25" name="Shape 23"/>
          <p:cNvSpPr/>
          <p:nvPr/>
        </p:nvSpPr>
        <p:spPr>
          <a:xfrm>
            <a:off x="6583680" y="2688336"/>
            <a:ext cx="100584" cy="100584"/>
          </a:xfrm>
          <a:prstGeom prst="ellipse">
            <a:avLst/>
          </a:prstGeom>
          <a:solidFill>
            <a:srgbClr val="2E7D8F"/>
          </a:solidFill>
          <a:ln w="12700">
            <a:solidFill>
              <a:srgbClr val="2E7D8F"/>
            </a:solidFill>
            <a:prstDash val="solid"/>
          </a:ln>
        </p:spPr>
      </p:sp>
      <p:sp>
        <p:nvSpPr>
          <p:cNvPr id="26" name="Text 24"/>
          <p:cNvSpPr txBox="1"/>
          <p:nvPr/>
        </p:nvSpPr>
        <p:spPr>
          <a:xfrm>
            <a:off x="6821424" y="2587752"/>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Target: ward advisory issued 6+ hours before impact</a:t>
            </a:r>
            <a:endParaRPr lang="en-US" sz="1150" dirty="0"/>
          </a:p>
        </p:txBody>
      </p:sp>
      <p:sp>
        <p:nvSpPr>
          <p:cNvPr id="27" name="Shape 25"/>
          <p:cNvSpPr/>
          <p:nvPr/>
        </p:nvSpPr>
        <p:spPr>
          <a:xfrm>
            <a:off x="6583680" y="3072384"/>
            <a:ext cx="100584" cy="100584"/>
          </a:xfrm>
          <a:prstGeom prst="ellipse">
            <a:avLst/>
          </a:prstGeom>
          <a:solidFill>
            <a:srgbClr val="2E7D8F"/>
          </a:solidFill>
          <a:ln w="12700">
            <a:solidFill>
              <a:srgbClr val="2E7D8F"/>
            </a:solidFill>
            <a:prstDash val="solid"/>
          </a:ln>
        </p:spPr>
      </p:sp>
      <p:sp>
        <p:nvSpPr>
          <p:cNvPr id="28" name="Text 26"/>
          <p:cNvSpPr txBox="1"/>
          <p:nvPr/>
        </p:nvSpPr>
        <p:spPr>
          <a:xfrm>
            <a:off x="6821424" y="2971800"/>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Target: dispatch decisions in minutes, not hours</a:t>
            </a:r>
            <a:endParaRPr lang="en-US" sz="1150" dirty="0"/>
          </a:p>
        </p:txBody>
      </p:sp>
      <p:sp>
        <p:nvSpPr>
          <p:cNvPr id="29" name="Shape 27"/>
          <p:cNvSpPr/>
          <p:nvPr/>
        </p:nvSpPr>
        <p:spPr>
          <a:xfrm>
            <a:off x="6309360" y="3456432"/>
            <a:ext cx="5242255" cy="1700784"/>
          </a:xfrm>
          <a:prstGeom prst="rect">
            <a:avLst/>
          </a:prstGeom>
          <a:solidFill>
            <a:srgbClr val="E8EEF3"/>
          </a:solidFill>
          <a:ln w="9525">
            <a:solidFill>
              <a:srgbClr val="CFD8E1"/>
            </a:solidFill>
            <a:prstDash val="solid"/>
          </a:ln>
        </p:spPr>
      </p:sp>
      <p:sp>
        <p:nvSpPr>
          <p:cNvPr id="30" name="Text 28"/>
          <p:cNvSpPr txBox="1"/>
          <p:nvPr/>
        </p:nvSpPr>
        <p:spPr>
          <a:xfrm>
            <a:off x="6583680" y="3657600"/>
            <a:ext cx="4693615" cy="219456"/>
          </a:xfrm>
          <a:prstGeom prst="rect">
            <a:avLst/>
          </a:prstGeom>
          <a:noFill/>
          <a:ln/>
        </p:spPr>
        <p:txBody>
          <a:bodyPr wrap="square" lIns="0" tIns="0" rIns="0" bIns="0" rtlCol="0" anchor="ctr"/>
          <a:lstStyle/>
          <a:p>
            <a:pPr marL="0" indent="0">
              <a:buNone/>
            </a:pPr>
            <a:r>
              <a:rPr lang="en-US" sz="1000" b="1" kern="0" spc="150" dirty="0">
                <a:solidFill>
                  <a:srgbClr val="6E8194"/>
                </a:solidFill>
                <a:latin typeface="Calibri" pitchFamily="34" charset="0"/>
                <a:ea typeface="Calibri" pitchFamily="34" charset="-122"/>
                <a:cs typeface="Calibri" pitchFamily="34" charset="-120"/>
              </a:rPr>
              <a:t>LONG TERM   ·   BEYOND 12 MONTHS</a:t>
            </a:r>
            <a:endParaRPr lang="en-US" sz="1000" dirty="0"/>
          </a:p>
        </p:txBody>
      </p:sp>
      <p:sp>
        <p:nvSpPr>
          <p:cNvPr id="31" name="Shape 29"/>
          <p:cNvSpPr/>
          <p:nvPr/>
        </p:nvSpPr>
        <p:spPr>
          <a:xfrm>
            <a:off x="6583680" y="4169664"/>
            <a:ext cx="100584" cy="100584"/>
          </a:xfrm>
          <a:prstGeom prst="ellipse">
            <a:avLst/>
          </a:prstGeom>
          <a:solidFill>
            <a:srgbClr val="4E6B41"/>
          </a:solidFill>
          <a:ln w="12700">
            <a:solidFill>
              <a:srgbClr val="4E6B41"/>
            </a:solidFill>
            <a:prstDash val="solid"/>
          </a:ln>
        </p:spPr>
      </p:sp>
      <p:sp>
        <p:nvSpPr>
          <p:cNvPr id="32" name="Text 30"/>
          <p:cNvSpPr txBox="1"/>
          <p:nvPr/>
        </p:nvSpPr>
        <p:spPr>
          <a:xfrm>
            <a:off x="6821424" y="4069080"/>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Cyclone, landslide and drought adapters added</a:t>
            </a:r>
            <a:endParaRPr lang="en-US" sz="1150" dirty="0"/>
          </a:p>
        </p:txBody>
      </p:sp>
      <p:sp>
        <p:nvSpPr>
          <p:cNvPr id="33" name="Shape 31"/>
          <p:cNvSpPr/>
          <p:nvPr/>
        </p:nvSpPr>
        <p:spPr>
          <a:xfrm>
            <a:off x="6583680" y="4553712"/>
            <a:ext cx="100584" cy="100584"/>
          </a:xfrm>
          <a:prstGeom prst="ellipse">
            <a:avLst/>
          </a:prstGeom>
          <a:solidFill>
            <a:srgbClr val="4E6B41"/>
          </a:solidFill>
          <a:ln w="12700">
            <a:solidFill>
              <a:srgbClr val="4E6B41"/>
            </a:solidFill>
            <a:prstDash val="solid"/>
          </a:ln>
        </p:spPr>
      </p:sp>
      <p:sp>
        <p:nvSpPr>
          <p:cNvPr id="34" name="Text 32"/>
          <p:cNvSpPr txBox="1"/>
          <p:nvPr/>
        </p:nvSpPr>
        <p:spPr>
          <a:xfrm>
            <a:off x="6821424" y="4453128"/>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Multi-city tenancy under a state authority</a:t>
            </a:r>
            <a:endParaRPr lang="en-US" sz="1150" dirty="0"/>
          </a:p>
        </p:txBody>
      </p:sp>
      <p:sp>
        <p:nvSpPr>
          <p:cNvPr id="35" name="Shape 33"/>
          <p:cNvSpPr/>
          <p:nvPr/>
        </p:nvSpPr>
        <p:spPr>
          <a:xfrm>
            <a:off x="6583680" y="4937760"/>
            <a:ext cx="100584" cy="100584"/>
          </a:xfrm>
          <a:prstGeom prst="ellipse">
            <a:avLst/>
          </a:prstGeom>
          <a:solidFill>
            <a:srgbClr val="4E6B41"/>
          </a:solidFill>
          <a:ln w="12700">
            <a:solidFill>
              <a:srgbClr val="4E6B41"/>
            </a:solidFill>
            <a:prstDash val="solid"/>
          </a:ln>
        </p:spPr>
      </p:sp>
      <p:sp>
        <p:nvSpPr>
          <p:cNvPr id="36" name="Text 34"/>
          <p:cNvSpPr txBox="1"/>
          <p:nvPr/>
        </p:nvSpPr>
        <p:spPr>
          <a:xfrm>
            <a:off x="6821424" y="4837176"/>
            <a:ext cx="4455871" cy="274320"/>
          </a:xfrm>
          <a:prstGeom prst="rect">
            <a:avLst/>
          </a:prstGeom>
          <a:noFill/>
          <a:ln/>
        </p:spPr>
        <p:txBody>
          <a:bodyPr wrap="square" lIns="0" tIns="0" rIns="0" bIns="0" rtlCol="0" anchor="ctr"/>
          <a:lstStyle/>
          <a:p>
            <a:pPr marL="0" indent="0">
              <a:buNone/>
            </a:pPr>
            <a:r>
              <a:rPr lang="en-US" sz="1150" dirty="0">
                <a:solidFill>
                  <a:srgbClr val="11253C"/>
                </a:solidFill>
                <a:latin typeface="Calibri" pitchFamily="34" charset="0"/>
                <a:ea typeface="Calibri" pitchFamily="34" charset="-122"/>
                <a:cs typeface="Calibri" pitchFamily="34" charset="-120"/>
              </a:rPr>
              <a:t>Risk record feeding resilient urban planning</a:t>
            </a:r>
            <a:endParaRPr lang="en-US" sz="1150" dirty="0"/>
          </a:p>
        </p:txBody>
      </p:sp>
      <p:sp>
        <p:nvSpPr>
          <p:cNvPr id="37" name="Shape 35"/>
          <p:cNvSpPr/>
          <p:nvPr/>
        </p:nvSpPr>
        <p:spPr>
          <a:xfrm>
            <a:off x="640080" y="5413248"/>
            <a:ext cx="5318608" cy="987552"/>
          </a:xfrm>
          <a:prstGeom prst="rect">
            <a:avLst/>
          </a:prstGeom>
          <a:solidFill>
            <a:srgbClr val="FFFFFF"/>
          </a:solidFill>
          <a:ln w="15875">
            <a:solidFill>
              <a:srgbClr val="9FAFBE"/>
            </a:solidFill>
            <a:prstDash val="solid"/>
          </a:ln>
        </p:spPr>
      </p:sp>
      <p:sp>
        <p:nvSpPr>
          <p:cNvPr id="38" name="Text 36"/>
          <p:cNvSpPr txBox="1"/>
          <p:nvPr/>
        </p:nvSpPr>
        <p:spPr>
          <a:xfrm>
            <a:off x="877824" y="5541264"/>
            <a:ext cx="4843120" cy="201168"/>
          </a:xfrm>
          <a:prstGeom prst="rect">
            <a:avLst/>
          </a:prstGeom>
          <a:noFill/>
          <a:ln/>
        </p:spPr>
        <p:txBody>
          <a:bodyPr wrap="square" lIns="0" tIns="0" rIns="0" bIns="0" rtlCol="0" anchor="ctr"/>
          <a:lstStyle/>
          <a:p>
            <a:pPr marL="0" indent="0">
              <a:buNone/>
            </a:pPr>
            <a:r>
              <a:rPr lang="en-US" sz="950" b="1" kern="0" spc="150" dirty="0">
                <a:solidFill>
                  <a:srgbClr val="6E8194"/>
                </a:solidFill>
                <a:latin typeface="Calibri" pitchFamily="34" charset="0"/>
                <a:ea typeface="Calibri" pitchFamily="34" charset="-122"/>
                <a:cs typeface="Calibri" pitchFamily="34" charset="-120"/>
              </a:rPr>
              <a:t>FLOOD RISK MODEL</a:t>
            </a:r>
            <a:endParaRPr lang="en-US" sz="950" dirty="0"/>
          </a:p>
        </p:txBody>
      </p:sp>
      <p:sp>
        <p:nvSpPr>
          <p:cNvPr id="39" name="Text 37"/>
          <p:cNvSpPr txBox="1"/>
          <p:nvPr/>
        </p:nvSpPr>
        <p:spPr>
          <a:xfrm>
            <a:off x="877824" y="5742432"/>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Inputs   </a:t>
            </a:r>
            <a:r>
              <a:rPr lang="en-US" sz="950" dirty="0">
                <a:solidFill>
                  <a:srgbClr val="3D5468"/>
                </a:solidFill>
                <a:latin typeface="Calibri" pitchFamily="34" charset="0"/>
                <a:ea typeface="Calibri" pitchFamily="34" charset="-122"/>
                <a:cs typeface="Calibri" pitchFamily="34" charset="-120"/>
              </a:rPr>
              <a:t>rainfall, elevation, drainage, reservoir discharge, flood history, land cover</a:t>
            </a:r>
            <a:endParaRPr lang="en-US" sz="950" dirty="0"/>
          </a:p>
        </p:txBody>
      </p:sp>
      <p:sp>
        <p:nvSpPr>
          <p:cNvPr id="40" name="Text 38"/>
          <p:cNvSpPr txBox="1"/>
          <p:nvPr/>
        </p:nvSpPr>
        <p:spPr>
          <a:xfrm>
            <a:off x="877824" y="5952744"/>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Model   </a:t>
            </a:r>
            <a:r>
              <a:rPr lang="en-US" sz="950" dirty="0">
                <a:solidFill>
                  <a:srgbClr val="3D5468"/>
                </a:solidFill>
                <a:latin typeface="Calibri" pitchFamily="34" charset="0"/>
                <a:ea typeface="Calibri" pitchFamily="34" charset="-122"/>
                <a:cs typeface="Calibri" pitchFamily="34" charset="-120"/>
              </a:rPr>
              <a:t>gradient-boosted trees over a 250 m grid, per hazard adapter</a:t>
            </a:r>
            <a:endParaRPr lang="en-US" sz="950" dirty="0"/>
          </a:p>
        </p:txBody>
      </p:sp>
      <p:sp>
        <p:nvSpPr>
          <p:cNvPr id="41" name="Text 39"/>
          <p:cNvSpPr txBox="1"/>
          <p:nvPr/>
        </p:nvSpPr>
        <p:spPr>
          <a:xfrm>
            <a:off x="877824" y="6163056"/>
            <a:ext cx="4843120" cy="201168"/>
          </a:xfrm>
          <a:prstGeom prst="rect">
            <a:avLst/>
          </a:prstGeom>
          <a:noFill/>
          <a:ln/>
        </p:spPr>
        <p:txBody>
          <a:bodyPr wrap="square" lIns="0" tIns="0" rIns="0" bIns="0" rtlCol="0" anchor="ctr"/>
          <a:lstStyle/>
          <a:p>
            <a:pPr marL="0" indent="0">
              <a:buNone/>
            </a:pPr>
            <a:r>
              <a:rPr lang="en-US" sz="950" b="1" dirty="0">
                <a:solidFill>
                  <a:srgbClr val="11253C"/>
                </a:solidFill>
                <a:latin typeface="Calibri" pitchFamily="34" charset="0"/>
                <a:ea typeface="Calibri" pitchFamily="34" charset="-122"/>
                <a:cs typeface="Calibri" pitchFamily="34" charset="-120"/>
              </a:rPr>
              <a:t>Validation   </a:t>
            </a:r>
            <a:r>
              <a:rPr lang="en-US" sz="950" dirty="0">
                <a:solidFill>
                  <a:srgbClr val="3D5468"/>
                </a:solidFill>
                <a:latin typeface="Calibri" pitchFamily="34" charset="0"/>
                <a:ea typeface="Calibri" pitchFamily="34" charset="-122"/>
                <a:cs typeface="Calibri" pitchFamily="34" charset="-120"/>
              </a:rPr>
              <a:t>backtested on the July 2024 Pune event; metrics reported post-evaluation</a:t>
            </a:r>
            <a:endParaRPr lang="en-US" sz="950" dirty="0"/>
          </a:p>
        </p:txBody>
      </p:sp>
      <p:sp>
        <p:nvSpPr>
          <p:cNvPr id="42" name="Shape 40"/>
          <p:cNvSpPr/>
          <p:nvPr/>
        </p:nvSpPr>
        <p:spPr>
          <a:xfrm>
            <a:off x="6233008" y="5413248"/>
            <a:ext cx="5318608" cy="987552"/>
          </a:xfrm>
          <a:prstGeom prst="rect">
            <a:avLst/>
          </a:prstGeom>
          <a:solidFill>
            <a:srgbClr val="FFFFFF"/>
          </a:solidFill>
          <a:ln w="9525">
            <a:solidFill>
              <a:srgbClr val="CFD8E1"/>
            </a:solidFill>
            <a:prstDash val="solid"/>
          </a:ln>
        </p:spPr>
      </p:sp>
      <p:sp>
        <p:nvSpPr>
          <p:cNvPr id="43" name="Text 41"/>
          <p:cNvSpPr txBox="1"/>
          <p:nvPr/>
        </p:nvSpPr>
        <p:spPr>
          <a:xfrm>
            <a:off x="6470752" y="5541264"/>
            <a:ext cx="4843120" cy="201168"/>
          </a:xfrm>
          <a:prstGeom prst="rect">
            <a:avLst/>
          </a:prstGeom>
          <a:noFill/>
          <a:ln/>
        </p:spPr>
        <p:txBody>
          <a:bodyPr wrap="square" lIns="0" tIns="0" rIns="0" bIns="0" rtlCol="0" anchor="ctr"/>
          <a:lstStyle/>
          <a:p>
            <a:pPr marL="0" indent="0">
              <a:buNone/>
            </a:pPr>
            <a:r>
              <a:rPr lang="en-US" sz="950" b="1" kern="0" spc="150" dirty="0">
                <a:solidFill>
                  <a:srgbClr val="6E8194"/>
                </a:solidFill>
                <a:latin typeface="Calibri" pitchFamily="34" charset="0"/>
                <a:ea typeface="Calibri" pitchFamily="34" charset="-122"/>
                <a:cs typeface="Calibri" pitchFamily="34" charset="-120"/>
              </a:rPr>
              <a:t>SCOPE FOR SCALING</a:t>
            </a:r>
            <a:endParaRPr lang="en-US" sz="950" dirty="0"/>
          </a:p>
        </p:txBody>
      </p:sp>
      <p:sp>
        <p:nvSpPr>
          <p:cNvPr id="44" name="Text 42"/>
          <p:cNvSpPr txBox="1"/>
          <p:nvPr/>
        </p:nvSpPr>
        <p:spPr>
          <a:xfrm>
            <a:off x="6470752" y="5760720"/>
            <a:ext cx="4843120" cy="566928"/>
          </a:xfrm>
          <a:prstGeom prst="rect">
            <a:avLst/>
          </a:prstGeom>
          <a:noFill/>
          <a:ln/>
        </p:spPr>
        <p:txBody>
          <a:bodyPr wrap="square" lIns="0" tIns="0" rIns="0" bIns="0" rtlCol="0" anchor="ctr"/>
          <a:lstStyle/>
          <a:p>
            <a:pPr marL="0" indent="0">
              <a:lnSpc>
                <a:spcPts val="1400"/>
              </a:lnSpc>
              <a:buNone/>
            </a:pPr>
            <a:r>
              <a:rPr lang="en-US" sz="1000" dirty="0">
                <a:solidFill>
                  <a:srgbClr val="3D5468"/>
                </a:solidFill>
                <a:latin typeface="Calibri" pitchFamily="34" charset="0"/>
                <a:ea typeface="Calibri" pitchFamily="34" charset="-122"/>
                <a:cs typeface="Calibri" pitchFamily="34" charset="-120"/>
              </a:rPr>
              <a:t>A new city needs three inputs — ward geometry, a terrain model and an exposure layer. Everything above that is shared. Because every live hazard feed is an open, keyless or free-tier API, onboarding the next municipality is a configuration task, not a procurement cycle.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11535" cy="219456"/>
          </a:xfrm>
          <a:prstGeom prst="rect">
            <a:avLst/>
          </a:prstGeom>
          <a:noFill/>
          <a:ln/>
        </p:spPr>
        <p:txBody>
          <a:bodyPr wrap="square" lIns="0" tIns="0" rIns="0" bIns="0" rtlCol="0" anchor="ctr"/>
          <a:lstStyle/>
          <a:p>
            <a:pPr marL="0" indent="0" algn="l">
              <a:buNone/>
            </a:pPr>
            <a:r>
              <a:rPr lang="en-US" sz="1050" b="1" kern="0" spc="220" dirty="0">
                <a:solidFill>
                  <a:srgbClr val="6E8194"/>
                </a:solidFill>
                <a:latin typeface="Calibri" pitchFamily="34" charset="0"/>
                <a:ea typeface="Calibri" pitchFamily="34" charset="-122"/>
                <a:cs typeface="Calibri" pitchFamily="34" charset="-120"/>
              </a:rPr>
              <a:t>SLIDE 08  ·  CONCLUSION</a:t>
            </a:r>
            <a:endParaRPr lang="en-US" sz="1050" dirty="0"/>
          </a:p>
        </p:txBody>
      </p:sp>
      <p:sp>
        <p:nvSpPr>
          <p:cNvPr id="3" name="Text 1"/>
          <p:cNvSpPr txBox="1"/>
          <p:nvPr/>
        </p:nvSpPr>
        <p:spPr>
          <a:xfrm>
            <a:off x="640080" y="640080"/>
            <a:ext cx="10911535" cy="566928"/>
          </a:xfrm>
          <a:prstGeom prst="rect">
            <a:avLst/>
          </a:prstGeom>
          <a:noFill/>
          <a:ln/>
        </p:spPr>
        <p:txBody>
          <a:bodyPr wrap="square" lIns="0" tIns="0" rIns="0" bIns="0" rtlCol="0" anchor="ctr"/>
          <a:lstStyle/>
          <a:p>
            <a:pPr marL="0" indent="0" algn="l">
              <a:buNone/>
            </a:pPr>
            <a:r>
              <a:rPr lang="en-US" sz="3300" b="1" dirty="0">
                <a:solidFill>
                  <a:srgbClr val="11253C"/>
                </a:solidFill>
                <a:latin typeface="Cambria" pitchFamily="34" charset="0"/>
                <a:ea typeface="Cambria" pitchFamily="34" charset="-122"/>
                <a:cs typeface="Cambria" pitchFamily="34" charset="-120"/>
              </a:rPr>
              <a:t>Conclusion</a:t>
            </a:r>
            <a:endParaRPr lang="en-US" sz="3300" dirty="0"/>
          </a:p>
        </p:txBody>
      </p:sp>
      <p:sp>
        <p:nvSpPr>
          <p:cNvPr id="4" name="Text 2"/>
          <p:cNvSpPr txBox="1"/>
          <p:nvPr/>
        </p:nvSpPr>
        <p:spPr>
          <a:xfrm>
            <a:off x="640080" y="1554480"/>
            <a:ext cx="8595360" cy="950976"/>
          </a:xfrm>
          <a:prstGeom prst="rect">
            <a:avLst/>
          </a:prstGeom>
          <a:noFill/>
          <a:ln/>
        </p:spPr>
        <p:txBody>
          <a:bodyPr wrap="square" lIns="0" tIns="0" rIns="0" bIns="0" rtlCol="0" anchor="ctr"/>
          <a:lstStyle/>
          <a:p>
            <a:pPr marL="0" indent="0">
              <a:lnSpc>
                <a:spcPts val="2400"/>
              </a:lnSpc>
              <a:buNone/>
            </a:pPr>
            <a:r>
              <a:rPr lang="en-US" sz="1500" dirty="0">
                <a:solidFill>
                  <a:srgbClr val="3D5468"/>
                </a:solidFill>
                <a:latin typeface="Calibri" pitchFamily="34" charset="0"/>
                <a:ea typeface="Calibri" pitchFamily="34" charset="-122"/>
                <a:cs typeface="Calibri" pitchFamily="34" charset="-120"/>
              </a:rPr>
              <a:t>India's forecasting is not the weak link. The gap is everything that happens after the forecast — who acts, where, and by when. Indradhanu is that layer, and it works the same way for a flood tonight as for a heatwave, a fire or a quake.</a:t>
            </a:r>
            <a:endParaRPr lang="en-US" sz="1500" dirty="0"/>
          </a:p>
        </p:txBody>
      </p:sp>
      <p:sp>
        <p:nvSpPr>
          <p:cNvPr id="5" name="Text 3"/>
          <p:cNvSpPr txBox="1"/>
          <p:nvPr/>
        </p:nvSpPr>
        <p:spPr>
          <a:xfrm>
            <a:off x="640080" y="2670048"/>
            <a:ext cx="10911535" cy="566928"/>
          </a:xfrm>
          <a:prstGeom prst="rect">
            <a:avLst/>
          </a:prstGeom>
          <a:noFill/>
          <a:ln/>
        </p:spPr>
        <p:txBody>
          <a:bodyPr wrap="square" lIns="0" tIns="0" rIns="0" bIns="0" rtlCol="0" anchor="ctr"/>
          <a:lstStyle/>
          <a:p>
            <a:pPr marL="0" indent="0">
              <a:buNone/>
            </a:pPr>
            <a:r>
              <a:rPr lang="en-US" sz="3400" b="1" dirty="0">
                <a:solidFill>
                  <a:srgbClr val="11253C"/>
                </a:solidFill>
                <a:latin typeface="Cambria" pitchFamily="34" charset="0"/>
                <a:ea typeface="Cambria" pitchFamily="34" charset="-122"/>
                <a:cs typeface="Cambria" pitchFamily="34" charset="-120"/>
              </a:rPr>
              <a:t>Predict.  Decide.  Dispatch.  Protect.</a:t>
            </a:r>
            <a:endParaRPr lang="en-US" sz="3400" dirty="0"/>
          </a:p>
        </p:txBody>
      </p:sp>
      <p:sp>
        <p:nvSpPr>
          <p:cNvPr id="6" name="Text 4"/>
          <p:cNvSpPr txBox="1"/>
          <p:nvPr/>
        </p:nvSpPr>
        <p:spPr>
          <a:xfrm>
            <a:off x="640080" y="3255264"/>
            <a:ext cx="10911535" cy="274320"/>
          </a:xfrm>
          <a:prstGeom prst="rect">
            <a:avLst/>
          </a:prstGeom>
          <a:noFill/>
          <a:ln/>
        </p:spPr>
        <p:txBody>
          <a:bodyPr wrap="square" lIns="0" tIns="0" rIns="0" bIns="0" rtlCol="0" anchor="ctr"/>
          <a:lstStyle/>
          <a:p>
            <a:pPr marL="0" indent="0">
              <a:buNone/>
            </a:pPr>
            <a:r>
              <a:rPr lang="en-US" sz="1400" dirty="0">
                <a:solidFill>
                  <a:srgbClr val="B23A24"/>
                </a:solidFill>
                <a:latin typeface="Calibri" pitchFamily="34" charset="0"/>
                <a:ea typeface="Calibri" pitchFamily="34" charset="-122"/>
                <a:cs typeface="Calibri" pitchFamily="34" charset="-120"/>
              </a:rPr>
              <a:t>From forecast to action — before the disaster becomes a crisis.</a:t>
            </a:r>
            <a:endParaRPr lang="en-US" sz="1400" dirty="0"/>
          </a:p>
        </p:txBody>
      </p:sp>
      <p:sp>
        <p:nvSpPr>
          <p:cNvPr id="7" name="Shape 5"/>
          <p:cNvSpPr/>
          <p:nvPr/>
        </p:nvSpPr>
        <p:spPr>
          <a:xfrm>
            <a:off x="640080" y="3712464"/>
            <a:ext cx="10911535" cy="0"/>
          </a:xfrm>
          <a:prstGeom prst="line">
            <a:avLst/>
          </a:prstGeom>
          <a:noFill/>
          <a:ln w="12700">
            <a:solidFill>
              <a:srgbClr val="CFD8E1"/>
            </a:solidFill>
            <a:prstDash val="solid"/>
          </a:ln>
        </p:spPr>
      </p:sp>
      <p:sp>
        <p:nvSpPr>
          <p:cNvPr id="8" name="Text 6"/>
          <p:cNvSpPr txBox="1"/>
          <p:nvPr/>
        </p:nvSpPr>
        <p:spPr>
          <a:xfrm>
            <a:off x="640080" y="3913632"/>
            <a:ext cx="5486400" cy="219456"/>
          </a:xfrm>
          <a:prstGeom prst="rect">
            <a:avLst/>
          </a:prstGeom>
          <a:noFill/>
          <a:ln/>
        </p:spPr>
        <p:txBody>
          <a:bodyPr wrap="square" lIns="0" tIns="0" rIns="0" bIns="0" rtlCol="0" anchor="ctr"/>
          <a:lstStyle/>
          <a:p>
            <a:pPr marL="0" indent="0">
              <a:buNone/>
            </a:pPr>
            <a:r>
              <a:rPr lang="en-US" sz="1000" b="1" kern="0" spc="180" dirty="0">
                <a:solidFill>
                  <a:srgbClr val="6E8194"/>
                </a:solidFill>
                <a:latin typeface="Calibri" pitchFamily="34" charset="0"/>
                <a:ea typeface="Calibri" pitchFamily="34" charset="-122"/>
                <a:cs typeface="Calibri" pitchFamily="34" charset="-120"/>
              </a:rPr>
              <a:t>WHY THIS IDEA SHOULD BE SELECTED</a:t>
            </a:r>
            <a:endParaRPr lang="en-US" sz="1000" dirty="0"/>
          </a:p>
        </p:txBody>
      </p:sp>
      <p:sp>
        <p:nvSpPr>
          <p:cNvPr id="9" name="Shape 7"/>
          <p:cNvSpPr/>
          <p:nvPr/>
        </p:nvSpPr>
        <p:spPr>
          <a:xfrm>
            <a:off x="640080" y="4206240"/>
            <a:ext cx="3454298" cy="1627632"/>
          </a:xfrm>
          <a:prstGeom prst="rect">
            <a:avLst/>
          </a:prstGeom>
          <a:solidFill>
            <a:srgbClr val="F3F6F9"/>
          </a:solidFill>
          <a:ln w="9525">
            <a:solidFill>
              <a:srgbClr val="CFD8E1"/>
            </a:solidFill>
            <a:prstDash val="solid"/>
          </a:ln>
        </p:spPr>
      </p:sp>
      <p:sp>
        <p:nvSpPr>
          <p:cNvPr id="10" name="Text 8"/>
          <p:cNvSpPr txBox="1"/>
          <p:nvPr/>
        </p:nvSpPr>
        <p:spPr>
          <a:xfrm>
            <a:off x="877824"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It solves the gap, not the headline</a:t>
            </a:r>
            <a:endParaRPr lang="en-US" sz="1400" dirty="0"/>
          </a:p>
        </p:txBody>
      </p:sp>
      <p:sp>
        <p:nvSpPr>
          <p:cNvPr id="11" name="Text 9"/>
          <p:cNvSpPr txBox="1"/>
          <p:nvPr/>
        </p:nvSpPr>
        <p:spPr>
          <a:xfrm>
            <a:off x="877824"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Prediction is already well served in India. Converting a forecast into an accountable decision is not — and that is the part we build.</a:t>
            </a:r>
            <a:endParaRPr lang="en-US" sz="1100" dirty="0"/>
          </a:p>
        </p:txBody>
      </p:sp>
      <p:sp>
        <p:nvSpPr>
          <p:cNvPr id="12" name="Shape 10"/>
          <p:cNvSpPr/>
          <p:nvPr/>
        </p:nvSpPr>
        <p:spPr>
          <a:xfrm>
            <a:off x="4368698" y="4206240"/>
            <a:ext cx="3454298" cy="1627632"/>
          </a:xfrm>
          <a:prstGeom prst="rect">
            <a:avLst/>
          </a:prstGeom>
          <a:solidFill>
            <a:srgbClr val="F3F6F9"/>
          </a:solidFill>
          <a:ln w="9525">
            <a:solidFill>
              <a:srgbClr val="CFD8E1"/>
            </a:solidFill>
            <a:prstDash val="solid"/>
          </a:ln>
        </p:spPr>
      </p:sp>
      <p:sp>
        <p:nvSpPr>
          <p:cNvPr id="13" name="Text 11"/>
          <p:cNvSpPr txBox="1"/>
          <p:nvPr/>
        </p:nvSpPr>
        <p:spPr>
          <a:xfrm>
            <a:off x="4606442"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It is buildable, and provable out of season</a:t>
            </a:r>
            <a:endParaRPr lang="en-US" sz="1400" dirty="0"/>
          </a:p>
        </p:txBody>
      </p:sp>
      <p:sp>
        <p:nvSpPr>
          <p:cNvPr id="14" name="Text 12"/>
          <p:cNvSpPr txBox="1"/>
          <p:nvPr/>
        </p:nvSpPr>
        <p:spPr>
          <a:xfrm>
            <a:off x="4606442"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Every live hazard feed is an open API available today, and Replay Mode validates the system against an actual 2024 flood in any month.</a:t>
            </a:r>
            <a:endParaRPr lang="en-US" sz="1100" dirty="0"/>
          </a:p>
        </p:txBody>
      </p:sp>
      <p:sp>
        <p:nvSpPr>
          <p:cNvPr id="15" name="Shape 13"/>
          <p:cNvSpPr/>
          <p:nvPr/>
        </p:nvSpPr>
        <p:spPr>
          <a:xfrm>
            <a:off x="8097317" y="4206240"/>
            <a:ext cx="3454298" cy="1627632"/>
          </a:xfrm>
          <a:prstGeom prst="rect">
            <a:avLst/>
          </a:prstGeom>
          <a:solidFill>
            <a:srgbClr val="F3F6F9"/>
          </a:solidFill>
          <a:ln w="9525">
            <a:solidFill>
              <a:srgbClr val="CFD8E1"/>
            </a:solidFill>
            <a:prstDash val="solid"/>
          </a:ln>
        </p:spPr>
      </p:sp>
      <p:sp>
        <p:nvSpPr>
          <p:cNvPr id="16" name="Text 14"/>
          <p:cNvSpPr txBox="1"/>
          <p:nvPr/>
        </p:nvSpPr>
        <p:spPr>
          <a:xfrm>
            <a:off x="8335061" y="4389120"/>
            <a:ext cx="2978810" cy="475488"/>
          </a:xfrm>
          <a:prstGeom prst="rect">
            <a:avLst/>
          </a:prstGeom>
          <a:noFill/>
          <a:ln/>
        </p:spPr>
        <p:txBody>
          <a:bodyPr wrap="square" lIns="0" tIns="0" rIns="0" bIns="0" rtlCol="0" anchor="ctr"/>
          <a:lstStyle/>
          <a:p>
            <a:pPr marL="0" indent="0">
              <a:lnSpc>
                <a:spcPts val="1900"/>
              </a:lnSpc>
              <a:buNone/>
            </a:pPr>
            <a:r>
              <a:rPr lang="en-US" sz="1400" b="1" dirty="0">
                <a:solidFill>
                  <a:srgbClr val="11253C"/>
                </a:solidFill>
                <a:latin typeface="Calibri" pitchFamily="34" charset="0"/>
                <a:ea typeface="Calibri" pitchFamily="34" charset="-122"/>
                <a:cs typeface="Calibri" pitchFamily="34" charset="-120"/>
              </a:rPr>
              <a:t>One architecture, every disaster</a:t>
            </a:r>
            <a:endParaRPr lang="en-US" sz="1400" dirty="0"/>
          </a:p>
        </p:txBody>
      </p:sp>
      <p:sp>
        <p:nvSpPr>
          <p:cNvPr id="17" name="Text 15"/>
          <p:cNvSpPr txBox="1"/>
          <p:nvPr/>
        </p:nvSpPr>
        <p:spPr>
          <a:xfrm>
            <a:off x="8335061" y="4901184"/>
            <a:ext cx="2978810" cy="822960"/>
          </a:xfrm>
          <a:prstGeom prst="rect">
            <a:avLst/>
          </a:prstGeom>
          <a:noFill/>
          <a:ln/>
        </p:spPr>
        <p:txBody>
          <a:bodyPr wrap="square" lIns="0" tIns="0" rIns="0" bIns="0" rtlCol="0" anchor="ctr"/>
          <a:lstStyle/>
          <a:p>
            <a:pPr marL="0" indent="0">
              <a:lnSpc>
                <a:spcPts val="1500"/>
              </a:lnSpc>
              <a:buNone/>
            </a:pPr>
            <a:r>
              <a:rPr lang="en-US" sz="1100" dirty="0">
                <a:solidFill>
                  <a:srgbClr val="3D5468"/>
                </a:solidFill>
                <a:latin typeface="Calibri" pitchFamily="34" charset="0"/>
                <a:ea typeface="Calibri" pitchFamily="34" charset="-122"/>
                <a:cs typeface="Calibri" pitchFamily="34" charset="-120"/>
              </a:rPr>
              <a:t>Flood and heat run live; fire, air quality and seismic are registered against the same adapter contract. That is infrastructure, not a project.</a:t>
            </a:r>
            <a:endParaRPr lang="en-US" sz="1100" dirty="0"/>
          </a:p>
        </p:txBody>
      </p:sp>
      <p:sp>
        <p:nvSpPr>
          <p:cNvPr id="18" name="Shape 16"/>
          <p:cNvSpPr/>
          <p:nvPr/>
        </p:nvSpPr>
        <p:spPr>
          <a:xfrm>
            <a:off x="640080" y="6089904"/>
            <a:ext cx="128016" cy="128016"/>
          </a:xfrm>
          <a:prstGeom prst="ellipse">
            <a:avLst/>
          </a:prstGeom>
          <a:solidFill>
            <a:srgbClr val="2E7D8F"/>
          </a:solidFill>
          <a:ln w="12700">
            <a:solidFill>
              <a:srgbClr val="2E7D8F"/>
            </a:solidFill>
            <a:prstDash val="solid"/>
          </a:ln>
        </p:spPr>
      </p:sp>
      <p:sp>
        <p:nvSpPr>
          <p:cNvPr id="19" name="Text 17"/>
          <p:cNvSpPr txBox="1"/>
          <p:nvPr/>
        </p:nvSpPr>
        <p:spPr>
          <a:xfrm>
            <a:off x="850392"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Flood</a:t>
            </a:r>
            <a:endParaRPr lang="en-US" sz="1100" dirty="0"/>
          </a:p>
        </p:txBody>
      </p:sp>
      <p:sp>
        <p:nvSpPr>
          <p:cNvPr id="20" name="Shape 18"/>
          <p:cNvSpPr/>
          <p:nvPr/>
        </p:nvSpPr>
        <p:spPr>
          <a:xfrm>
            <a:off x="1883664" y="6089904"/>
            <a:ext cx="128016" cy="128016"/>
          </a:xfrm>
          <a:prstGeom prst="ellipse">
            <a:avLst/>
          </a:prstGeom>
          <a:solidFill>
            <a:srgbClr val="B23A24"/>
          </a:solidFill>
          <a:ln w="12700">
            <a:solidFill>
              <a:srgbClr val="B23A24"/>
            </a:solidFill>
            <a:prstDash val="solid"/>
          </a:ln>
        </p:spPr>
      </p:sp>
      <p:sp>
        <p:nvSpPr>
          <p:cNvPr id="21" name="Text 19"/>
          <p:cNvSpPr txBox="1"/>
          <p:nvPr/>
        </p:nvSpPr>
        <p:spPr>
          <a:xfrm>
            <a:off x="209397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Heatwave</a:t>
            </a:r>
            <a:endParaRPr lang="en-US" sz="1100" dirty="0"/>
          </a:p>
        </p:txBody>
      </p:sp>
      <p:sp>
        <p:nvSpPr>
          <p:cNvPr id="22" name="Shape 20"/>
          <p:cNvSpPr/>
          <p:nvPr/>
        </p:nvSpPr>
        <p:spPr>
          <a:xfrm>
            <a:off x="3438144" y="6089904"/>
            <a:ext cx="128016" cy="128016"/>
          </a:xfrm>
          <a:prstGeom prst="ellipse">
            <a:avLst/>
          </a:prstGeom>
          <a:solidFill>
            <a:srgbClr val="6E5596"/>
          </a:solidFill>
          <a:ln w="12700">
            <a:solidFill>
              <a:srgbClr val="6E5596"/>
            </a:solidFill>
            <a:prstDash val="solid"/>
          </a:ln>
        </p:spPr>
      </p:sp>
      <p:sp>
        <p:nvSpPr>
          <p:cNvPr id="23" name="Text 21"/>
          <p:cNvSpPr txBox="1"/>
          <p:nvPr/>
        </p:nvSpPr>
        <p:spPr>
          <a:xfrm>
            <a:off x="364845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Air Quality</a:t>
            </a:r>
            <a:endParaRPr lang="en-US" sz="1100" dirty="0"/>
          </a:p>
        </p:txBody>
      </p:sp>
      <p:sp>
        <p:nvSpPr>
          <p:cNvPr id="24" name="Shape 22"/>
          <p:cNvSpPr/>
          <p:nvPr/>
        </p:nvSpPr>
        <p:spPr>
          <a:xfrm>
            <a:off x="4992624" y="6089904"/>
            <a:ext cx="128016" cy="128016"/>
          </a:xfrm>
          <a:prstGeom prst="ellipse">
            <a:avLst/>
          </a:prstGeom>
          <a:solidFill>
            <a:srgbClr val="C97A20"/>
          </a:solidFill>
          <a:ln w="12700">
            <a:solidFill>
              <a:srgbClr val="C97A20"/>
            </a:solidFill>
            <a:prstDash val="solid"/>
          </a:ln>
        </p:spPr>
      </p:sp>
      <p:sp>
        <p:nvSpPr>
          <p:cNvPr id="25" name="Text 23"/>
          <p:cNvSpPr txBox="1"/>
          <p:nvPr/>
        </p:nvSpPr>
        <p:spPr>
          <a:xfrm>
            <a:off x="520293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Wildfire</a:t>
            </a:r>
            <a:endParaRPr lang="en-US" sz="1100" dirty="0"/>
          </a:p>
        </p:txBody>
      </p:sp>
      <p:sp>
        <p:nvSpPr>
          <p:cNvPr id="26" name="Shape 24"/>
          <p:cNvSpPr/>
          <p:nvPr/>
        </p:nvSpPr>
        <p:spPr>
          <a:xfrm>
            <a:off x="6547104" y="6089904"/>
            <a:ext cx="128016" cy="128016"/>
          </a:xfrm>
          <a:prstGeom prst="ellipse">
            <a:avLst/>
          </a:prstGeom>
          <a:solidFill>
            <a:srgbClr val="4E6B41"/>
          </a:solidFill>
          <a:ln w="12700">
            <a:solidFill>
              <a:srgbClr val="4E6B41"/>
            </a:solidFill>
            <a:prstDash val="solid"/>
          </a:ln>
        </p:spPr>
      </p:sp>
      <p:sp>
        <p:nvSpPr>
          <p:cNvPr id="27" name="Text 25"/>
          <p:cNvSpPr txBox="1"/>
          <p:nvPr/>
        </p:nvSpPr>
        <p:spPr>
          <a:xfrm>
            <a:off x="6757416" y="6016752"/>
            <a:ext cx="1463040" cy="274320"/>
          </a:xfrm>
          <a:prstGeom prst="rect">
            <a:avLst/>
          </a:prstGeom>
          <a:noFill/>
          <a:ln/>
        </p:spPr>
        <p:txBody>
          <a:bodyPr wrap="square" lIns="0" tIns="0" rIns="0" bIns="0" rtlCol="0" anchor="ctr"/>
          <a:lstStyle/>
          <a:p>
            <a:pPr marL="0" indent="0">
              <a:buNone/>
            </a:pPr>
            <a:r>
              <a:rPr lang="en-US" sz="1100" dirty="0">
                <a:solidFill>
                  <a:srgbClr val="6E8194"/>
                </a:solidFill>
                <a:latin typeface="Calibri" pitchFamily="34" charset="0"/>
                <a:ea typeface="Calibri" pitchFamily="34" charset="-122"/>
                <a:cs typeface="Calibri" pitchFamily="34" charset="-120"/>
              </a:rPr>
              <a:t>Seismic</a:t>
            </a:r>
            <a:endParaRPr lang="en-US" sz="1100" dirty="0"/>
          </a:p>
        </p:txBody>
      </p:sp>
      <p:sp>
        <p:nvSpPr>
          <p:cNvPr id="28" name="Text 26"/>
          <p:cNvSpPr txBox="1"/>
          <p:nvPr/>
        </p:nvSpPr>
        <p:spPr>
          <a:xfrm>
            <a:off x="6583680" y="6016752"/>
            <a:ext cx="4967935" cy="274320"/>
          </a:xfrm>
          <a:prstGeom prst="rect">
            <a:avLst/>
          </a:prstGeom>
          <a:noFill/>
          <a:ln/>
        </p:spPr>
        <p:txBody>
          <a:bodyPr wrap="square" lIns="0" tIns="0" rIns="0" bIns="0" rtlCol="0" anchor="ctr"/>
          <a:lstStyle/>
          <a:p>
            <a:pPr marL="0" indent="0" algn="r">
              <a:buNone/>
            </a:pPr>
            <a:r>
              <a:rPr lang="en-US" sz="1100" dirty="0">
                <a:solidFill>
                  <a:srgbClr val="6E8194"/>
                </a:solidFill>
                <a:latin typeface="Calibri" pitchFamily="34" charset="0"/>
                <a:ea typeface="Calibri" pitchFamily="34" charset="-122"/>
                <a:cs typeface="Calibri" pitchFamily="34" charset="-120"/>
              </a:rPr>
              <a:t>Indradhanu  ·  PCCOE International Grand Challenge 2026  ·  Pune, India</a:t>
            </a:r>
            <a:endParaRPr lang="en-US" sz="1100" dirty="0"/>
          </a:p>
        </p:txBody>
      </p:sp>
      <p:sp>
        <p:nvSpPr>
          <p:cNvPr id="29" name="Text 4">
            <a:extLst>
              <a:ext uri="{FF2B5EF4-FFF2-40B4-BE49-F238E27FC236}">
                <a16:creationId xmlns:a16="http://schemas.microsoft.com/office/drawing/2014/main" id="{F396ED69-E5DD-F19B-D5F6-B548F12D09AC}"/>
              </a:ext>
            </a:extLst>
          </p:cNvPr>
          <p:cNvSpPr txBox="1"/>
          <p:nvPr/>
        </p:nvSpPr>
        <p:spPr>
          <a:xfrm>
            <a:off x="5532431" y="3371470"/>
            <a:ext cx="10911535" cy="274320"/>
          </a:xfrm>
          <a:prstGeom prst="rect">
            <a:avLst/>
          </a:prstGeom>
          <a:noFill/>
          <a:ln/>
        </p:spPr>
        <p:txBody>
          <a:bodyPr wrap="square" lIns="0" tIns="0" rIns="0" bIns="0" rtlCol="0" anchor="ctr"/>
          <a:lstStyle/>
          <a:p>
            <a:r>
              <a:rPr lang="en-US" dirty="0">
                <a:latin typeface="Calibri" pitchFamily="34" charset="0"/>
                <a:ea typeface="Calibri" pitchFamily="34" charset="-122"/>
                <a:cs typeface="Calibri" pitchFamily="34" charset="-120"/>
              </a:rPr>
              <a:t>DEMO: </a:t>
            </a:r>
            <a:r>
              <a:rPr lang="en-US" dirty="0">
                <a:latin typeface="Calibri" pitchFamily="34" charset="0"/>
                <a:ea typeface="Calibri" pitchFamily="34" charset="-122"/>
                <a:cs typeface="Calibri" pitchFamily="34" charset="-120"/>
                <a:hlinkClick r:id="rId3"/>
              </a:rPr>
              <a:t>https://indradhanu-fr.vercel.app</a:t>
            </a:r>
            <a:endParaRPr lang="en-US" dirty="0">
              <a:latin typeface="Calibri" pitchFamily="34" charset="0"/>
              <a:ea typeface="Calibri" pitchFamily="34" charset="-122"/>
              <a:cs typeface="Calibri" pitchFamily="34" charset="-120"/>
            </a:endParaRP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2327</Words>
  <Application>Microsoft Office PowerPoint</Application>
  <PresentationFormat>Widescreen</PresentationFormat>
  <Paragraphs>235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Indradhanu - PCCOE International Grand Challenge 2026</dc:title>
  <dc:subject>PptxGenJS Presentation</dc:subject>
  <dc:creator>Team Indradhanu</dc:creator>
  <cp:lastModifiedBy>Ayush Pathak</cp:lastModifiedBy>
  <cp:revision>4</cp:revision>
  <dcterms:created xsi:type="dcterms:W3CDTF">2026-09-10T17:43:22Z</dcterms:created>
  <dcterms:modified xsi:type="dcterms:W3CDTF">2026-09-10T18:20:50Z</dcterms:modified>
</cp:coreProperties>
</file>